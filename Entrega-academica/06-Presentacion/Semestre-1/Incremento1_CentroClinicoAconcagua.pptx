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libri (MS) Bold" charset="1" panose="020F0702030404030204"/>
      <p:regular r:id="rId25"/>
    </p:embeddedFont>
    <p:embeddedFont>
      <p:font typeface="Calibri (MS)" charset="1" panose="020F0502020204030204"/>
      <p:regular r:id="rId26"/>
    </p:embeddedFont>
    <p:embeddedFont>
      <p:font typeface="Open Sans Bold" charset="1" panose="020B0806030504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3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6.png" Type="http://schemas.openxmlformats.org/officeDocument/2006/relationships/image"/><Relationship Id="rId6" Target="../media/image3.png" Type="http://schemas.openxmlformats.org/officeDocument/2006/relationships/image"/><Relationship Id="rId7" Target="../media/image11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4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28.png" Type="http://schemas.openxmlformats.org/officeDocument/2006/relationships/image"/><Relationship Id="rId12" Target="../media/image9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6.png" Type="http://schemas.openxmlformats.org/officeDocument/2006/relationships/image"/><Relationship Id="rId16" Target="../media/image11.png" Type="http://schemas.openxmlformats.org/officeDocument/2006/relationships/image"/><Relationship Id="rId17" Target="../media/image25.png" Type="http://schemas.openxmlformats.org/officeDocument/2006/relationships/image"/><Relationship Id="rId18" Target="../media/image3.png" Type="http://schemas.openxmlformats.org/officeDocument/2006/relationships/image"/><Relationship Id="rId19" Target="../media/image29.png" Type="http://schemas.openxmlformats.org/officeDocument/2006/relationships/image"/><Relationship Id="rId2" Target="../notesSlides/notesSlide8.xml" Type="http://schemas.openxmlformats.org/officeDocument/2006/relationships/notesSlide"/><Relationship Id="rId20" Target="../media/image30.png" Type="http://schemas.openxmlformats.org/officeDocument/2006/relationships/image"/><Relationship Id="rId21" Target="../media/image31.png" Type="http://schemas.openxmlformats.org/officeDocument/2006/relationships/image"/><Relationship Id="rId22" Target="../media/image22.png" Type="http://schemas.openxmlformats.org/officeDocument/2006/relationships/imag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26.png" Type="http://schemas.openxmlformats.org/officeDocument/2006/relationships/image"/><Relationship Id="rId6" Target="../media/image14.png" Type="http://schemas.openxmlformats.org/officeDocument/2006/relationships/image"/><Relationship Id="rId7" Target="../media/image8.png" Type="http://schemas.openxmlformats.org/officeDocument/2006/relationships/image"/><Relationship Id="rId8" Target="../media/image27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Relationship Id="rId6" Target="../media/image14.png" Type="http://schemas.openxmlformats.org/officeDocument/2006/relationships/image"/><Relationship Id="rId7" Target="../media/image4.png" Type="http://schemas.openxmlformats.org/officeDocument/2006/relationships/image"/><Relationship Id="rId8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058400" cy="10287000"/>
            <a:chOff x="0" y="0"/>
            <a:chExt cx="134112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1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19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2926080"/>
            <a:ext cx="9144000" cy="2926080"/>
            <a:chOff x="0" y="0"/>
            <a:chExt cx="12192000" cy="3901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52400"/>
              <a:ext cx="12192000" cy="4053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CENTRO CLÍNICO</a:t>
              </a:r>
            </a:p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ACONCAGUA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6035040"/>
            <a:ext cx="9144000" cy="914400"/>
            <a:chOff x="0" y="0"/>
            <a:chExt cx="121920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1920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4A9FD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Incremento I — Sistema de Gestión de Tickets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7132320"/>
            <a:ext cx="9144000" cy="731520"/>
            <a:chOff x="0" y="0"/>
            <a:chExt cx="121920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21920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8A94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Ingeniería en Software 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607040" y="2743200"/>
            <a:ext cx="7315200" cy="731520"/>
            <a:chOff x="0" y="0"/>
            <a:chExt cx="975360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753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Equipo N° 11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607040" y="3566160"/>
            <a:ext cx="7315200" cy="5486400"/>
            <a:chOff x="0" y="0"/>
            <a:chExt cx="9753600" cy="7315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753600" cy="7362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Daniel Alonso Castillo Palavecinos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Laura Carolina González García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Benjamín Jeremias González Cortes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Vicente Antonio Henríquez Rojas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Aylin Catalina Herrera Soto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Carlos Matias León Gómez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Pedro Steven López Moreno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Nicolás Antonio Salas Villarroel</a:t>
              </a:r>
            </a:p>
            <a:p>
              <a:pPr algn="l">
                <a:lnSpc>
                  <a:spcPts val="26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607040" y="8961120"/>
            <a:ext cx="7315200" cy="731520"/>
            <a:chOff x="0" y="0"/>
            <a:chExt cx="975360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753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A94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Profesor: Paulo Luis Francisco Quinsacara Jofré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A94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Fecha: 15 - 05 - 2026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548640" y="303451"/>
            <a:ext cx="6772968" cy="2350151"/>
          </a:xfrm>
          <a:custGeom>
            <a:avLst/>
            <a:gdLst/>
            <a:ahLst/>
            <a:cxnLst/>
            <a:rect r="r" b="b" t="t" l="l"/>
            <a:pathLst>
              <a:path h="2350151" w="6772968">
                <a:moveTo>
                  <a:pt x="0" y="0"/>
                </a:moveTo>
                <a:lnTo>
                  <a:pt x="6772968" y="0"/>
                </a:lnTo>
                <a:lnTo>
                  <a:pt x="6772968" y="2350152"/>
                </a:lnTo>
                <a:lnTo>
                  <a:pt x="0" y="23501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46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365760"/>
            <a:ext cx="16824960" cy="1280160"/>
            <a:chOff x="0" y="0"/>
            <a:chExt cx="2243328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71450"/>
              <a:ext cx="22433280" cy="1878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ÍNDICE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2011680"/>
            <a:ext cx="694944" cy="694944"/>
            <a:chOff x="0" y="0"/>
            <a:chExt cx="926592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2011680"/>
            <a:ext cx="694944" cy="694944"/>
            <a:chOff x="0" y="0"/>
            <a:chExt cx="926592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45920" y="2011680"/>
            <a:ext cx="6949440" cy="694944"/>
            <a:chOff x="0" y="0"/>
            <a:chExt cx="9265920" cy="9265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Introducción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1520" y="2962656"/>
            <a:ext cx="694944" cy="694944"/>
            <a:chOff x="0" y="0"/>
            <a:chExt cx="926592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31520" y="2962656"/>
            <a:ext cx="694944" cy="694944"/>
            <a:chOff x="0" y="0"/>
            <a:chExt cx="926592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45920" y="2962656"/>
            <a:ext cx="6949440" cy="694944"/>
            <a:chOff x="0" y="0"/>
            <a:chExt cx="9265920" cy="926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Resumen del Incremento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1520" y="3913632"/>
            <a:ext cx="694944" cy="694944"/>
            <a:chOff x="0" y="0"/>
            <a:chExt cx="926592" cy="9265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31520" y="3913632"/>
            <a:ext cx="694944" cy="694944"/>
            <a:chOff x="0" y="0"/>
            <a:chExt cx="926592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45920" y="3913632"/>
            <a:ext cx="6949440" cy="694944"/>
            <a:chOff x="0" y="0"/>
            <a:chExt cx="926592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Valor Entregado al Negocio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31520" y="4864608"/>
            <a:ext cx="694944" cy="694944"/>
            <a:chOff x="0" y="0"/>
            <a:chExt cx="926592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31520" y="4864608"/>
            <a:ext cx="694944" cy="694944"/>
            <a:chOff x="0" y="0"/>
            <a:chExt cx="926592" cy="926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45920" y="4864608"/>
            <a:ext cx="6949440" cy="694944"/>
            <a:chOff x="0" y="0"/>
            <a:chExt cx="9265920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Alcance Funcional Del Incremento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31520" y="5815584"/>
            <a:ext cx="694944" cy="694944"/>
            <a:chOff x="0" y="0"/>
            <a:chExt cx="926592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31520" y="5815584"/>
            <a:ext cx="694944" cy="694944"/>
            <a:chOff x="0" y="0"/>
            <a:chExt cx="926592" cy="926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45920" y="5815584"/>
            <a:ext cx="6949440" cy="694944"/>
            <a:chOff x="0" y="0"/>
            <a:chExt cx="9265920" cy="9265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Req. Funcionales (ESA)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31520" y="6766560"/>
            <a:ext cx="694944" cy="694944"/>
            <a:chOff x="0" y="0"/>
            <a:chExt cx="926592" cy="9265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31520" y="6766560"/>
            <a:ext cx="694944" cy="694944"/>
            <a:chOff x="0" y="0"/>
            <a:chExt cx="926592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31520" y="7717536"/>
            <a:ext cx="694944" cy="694944"/>
            <a:chOff x="0" y="0"/>
            <a:chExt cx="926592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31520" y="7717536"/>
            <a:ext cx="694944" cy="694944"/>
            <a:chOff x="0" y="0"/>
            <a:chExt cx="926592" cy="9265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45920" y="6767703"/>
            <a:ext cx="6949440" cy="694944"/>
            <a:chOff x="0" y="0"/>
            <a:chExt cx="9265920" cy="9265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CU-08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31520" y="8668512"/>
            <a:ext cx="694944" cy="694944"/>
            <a:chOff x="0" y="0"/>
            <a:chExt cx="926592" cy="9265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31520" y="8668512"/>
            <a:ext cx="694944" cy="694944"/>
            <a:chOff x="0" y="0"/>
            <a:chExt cx="926592" cy="9265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645920" y="7719822"/>
            <a:ext cx="6949440" cy="694944"/>
            <a:chOff x="0" y="0"/>
            <a:chExt cx="9265920" cy="9265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Diagrama de Secuencia CU-08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144000" y="2011680"/>
            <a:ext cx="694944" cy="694944"/>
            <a:chOff x="0" y="0"/>
            <a:chExt cx="926592" cy="9265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144000" y="2011680"/>
            <a:ext cx="694944" cy="694944"/>
            <a:chOff x="0" y="0"/>
            <a:chExt cx="926592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45920" y="8671941"/>
            <a:ext cx="7680960" cy="694944"/>
            <a:chOff x="0" y="0"/>
            <a:chExt cx="10241280" cy="9265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Vista en el sistema CU-08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144000" y="2962656"/>
            <a:ext cx="694944" cy="694944"/>
            <a:chOff x="0" y="0"/>
            <a:chExt cx="926592" cy="9265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144000" y="2962656"/>
            <a:ext cx="694944" cy="694944"/>
            <a:chOff x="0" y="0"/>
            <a:chExt cx="926592" cy="9265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058019" y="2011680"/>
            <a:ext cx="7680960" cy="694944"/>
            <a:chOff x="0" y="0"/>
            <a:chExt cx="10241280" cy="9265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CU-35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144000" y="3913632"/>
            <a:ext cx="694944" cy="694944"/>
            <a:chOff x="0" y="0"/>
            <a:chExt cx="926592" cy="92659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144000" y="3913632"/>
            <a:ext cx="694944" cy="694944"/>
            <a:chOff x="0" y="0"/>
            <a:chExt cx="926592" cy="92659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058019" y="2962656"/>
            <a:ext cx="7680960" cy="694944"/>
            <a:chOff x="0" y="0"/>
            <a:chExt cx="10241280" cy="9265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Diagrama de Secuencia CU-35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144000" y="4864608"/>
            <a:ext cx="694944" cy="694944"/>
            <a:chOff x="0" y="0"/>
            <a:chExt cx="926592" cy="9265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144000" y="4864608"/>
            <a:ext cx="694944" cy="694944"/>
            <a:chOff x="0" y="0"/>
            <a:chExt cx="926592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058400" y="3910965"/>
            <a:ext cx="7680960" cy="694944"/>
            <a:chOff x="0" y="0"/>
            <a:chExt cx="10241280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Vista en el sistema CU-35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144000" y="5815584"/>
            <a:ext cx="694944" cy="694944"/>
            <a:chOff x="0" y="0"/>
            <a:chExt cx="926592" cy="9265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144000" y="5815584"/>
            <a:ext cx="694944" cy="694944"/>
            <a:chOff x="0" y="0"/>
            <a:chExt cx="926592" cy="92659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058019" y="4864608"/>
            <a:ext cx="7680960" cy="694944"/>
            <a:chOff x="0" y="0"/>
            <a:chExt cx="10241280" cy="92659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Vista Desarrollo (Componentes)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144000" y="6766560"/>
            <a:ext cx="694944" cy="694944"/>
            <a:chOff x="0" y="0"/>
            <a:chExt cx="926592" cy="92659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9144000" y="6766560"/>
            <a:ext cx="694944" cy="694944"/>
            <a:chOff x="0" y="0"/>
            <a:chExt cx="926592" cy="92659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0058019" y="5921502"/>
            <a:ext cx="7680960" cy="694944"/>
            <a:chOff x="0" y="0"/>
            <a:chExt cx="10241280" cy="92659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Casos de uso implementados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0058400" y="6873621"/>
            <a:ext cx="7680960" cy="694944"/>
            <a:chOff x="0" y="0"/>
            <a:chExt cx="10241280" cy="92659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Conclusión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868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2011680"/>
            <a:ext cx="822960" cy="822960"/>
            <a:chOff x="0" y="0"/>
            <a:chExt cx="109728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4A9FD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77824" y="2157984"/>
            <a:ext cx="512064" cy="512064"/>
            <a:chOff x="0" y="0"/>
            <a:chExt cx="682752" cy="68275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828800" y="1920240"/>
            <a:ext cx="15910560" cy="1316736"/>
            <a:chOff x="0" y="0"/>
            <a:chExt cx="21214080" cy="1755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444" r="0" b="-1854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214080" cy="1812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Centro Clínico Aconcagua: </a:t>
              </a:r>
              <a:r>
                <a:rPr lang="en-US" sz="27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Sistema de mesa de ayuda para Los Andes. Abandona el uso de WhatsApp como canal de soporte técnico.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1520" y="3547872"/>
            <a:ext cx="822960" cy="822960"/>
            <a:chOff x="0" y="0"/>
            <a:chExt cx="109728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5C54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77824" y="3694176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828800" y="3456432"/>
            <a:ext cx="15910560" cy="1316736"/>
            <a:chOff x="0" y="0"/>
            <a:chExt cx="21214080" cy="17556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140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444" r="0" b="-18544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1214080" cy="1812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 Scrum++: </a:t>
              </a:r>
              <a:r>
                <a:rPr lang="en-US" sz="27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Sprint de 4 semanas con entrega de un MVP que cubre el 30% de los requerimientos funcionales (22 de 70).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1520" y="5084064"/>
            <a:ext cx="822960" cy="822960"/>
            <a:chOff x="0" y="0"/>
            <a:chExt cx="109728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77824" y="5230368"/>
            <a:ext cx="512064" cy="512064"/>
            <a:chOff x="0" y="0"/>
            <a:chExt cx="682752" cy="682752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828800" y="4992624"/>
            <a:ext cx="15910560" cy="1316736"/>
            <a:chOff x="0" y="0"/>
            <a:chExt cx="21214080" cy="17556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2140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444" r="0" b="-18544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1214080" cy="1812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Áreas cubiertas: </a:t>
              </a:r>
              <a:r>
                <a:rPr lang="en-US" sz="27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Autenticación, creación de tickets, ciclo de vida, notificaciones, dashboard y seguridad básica.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1520" y="6620256"/>
            <a:ext cx="822960" cy="822960"/>
            <a:chOff x="0" y="0"/>
            <a:chExt cx="109728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77824" y="6766560"/>
            <a:ext cx="512064" cy="512064"/>
            <a:chOff x="0" y="0"/>
            <a:chExt cx="682752" cy="682752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828800" y="6528816"/>
            <a:ext cx="15910560" cy="1316736"/>
            <a:chOff x="0" y="0"/>
            <a:chExt cx="21214080" cy="17556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2140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444" r="0" b="-18544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21214080" cy="1812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del incremento: </a:t>
              </a:r>
              <a:r>
                <a:rPr lang="en-US" sz="27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Centralizar incidencias, automatizar asignación y garantizar trazabilidad total con bitácora inmutable.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31520" y="8156448"/>
            <a:ext cx="822960" cy="822960"/>
            <a:chOff x="0" y="0"/>
            <a:chExt cx="109728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4A9FD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77824" y="8302752"/>
            <a:ext cx="512064" cy="512064"/>
            <a:chOff x="0" y="0"/>
            <a:chExt cx="682752" cy="682752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828800" y="8065008"/>
            <a:ext cx="15910560" cy="1316736"/>
            <a:chOff x="0" y="0"/>
            <a:chExt cx="21214080" cy="17556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2140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444" r="0" b="-18544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21214080" cy="1812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Validación: </a:t>
              </a:r>
              <a:r>
                <a:rPr lang="en-US" sz="27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Aprobado por Edgar Guerra (Jefe de TI) y equipo de soporte técnico del Centro Clínico.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743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1605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RESUMEN DEL INCREMENTO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554480"/>
            <a:ext cx="5303520" cy="2743200"/>
            <a:chOff x="0" y="0"/>
            <a:chExt cx="7071360" cy="3657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713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07136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778752" y="0"/>
                  </a:lnTo>
                  <a:cubicBezTo>
                    <a:pt x="6940297" y="0"/>
                    <a:pt x="7071360" y="131064"/>
                    <a:pt x="7071360" y="292608"/>
                  </a:cubicBezTo>
                  <a:lnTo>
                    <a:pt x="7071360" y="3364992"/>
                  </a:lnTo>
                  <a:cubicBezTo>
                    <a:pt x="7071360" y="3526536"/>
                    <a:pt x="6940297" y="3657600"/>
                    <a:pt x="6778752" y="3657600"/>
                  </a:cubicBezTo>
                  <a:lnTo>
                    <a:pt x="292608" y="3657600"/>
                  </a:lnTo>
                  <a:cubicBezTo>
                    <a:pt x="131064" y="3657600"/>
                    <a:pt x="0" y="3526536"/>
                    <a:pt x="0" y="336499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1682496"/>
            <a:ext cx="5303520" cy="1371600"/>
            <a:chOff x="0" y="0"/>
            <a:chExt cx="707136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71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42" r="0" b="-2534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33350"/>
              <a:ext cx="7071360" cy="1962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4A9F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3017520"/>
            <a:ext cx="5303520" cy="1188720"/>
            <a:chOff x="0" y="0"/>
            <a:chExt cx="7071360" cy="1584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0713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Casos de Uso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Implementados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83680" y="1554480"/>
            <a:ext cx="5303520" cy="2743200"/>
            <a:chOff x="0" y="0"/>
            <a:chExt cx="7071360" cy="3657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713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07136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778752" y="0"/>
                  </a:lnTo>
                  <a:cubicBezTo>
                    <a:pt x="6940297" y="0"/>
                    <a:pt x="7071360" y="131064"/>
                    <a:pt x="7071360" y="292608"/>
                  </a:cubicBezTo>
                  <a:lnTo>
                    <a:pt x="7071360" y="3364992"/>
                  </a:lnTo>
                  <a:cubicBezTo>
                    <a:pt x="7071360" y="3526536"/>
                    <a:pt x="6940297" y="3657600"/>
                    <a:pt x="6778752" y="3657600"/>
                  </a:cubicBezTo>
                  <a:lnTo>
                    <a:pt x="292608" y="3657600"/>
                  </a:lnTo>
                  <a:cubicBezTo>
                    <a:pt x="131064" y="3657600"/>
                    <a:pt x="0" y="3526536"/>
                    <a:pt x="0" y="336499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83680" y="1682496"/>
            <a:ext cx="5303520" cy="1371600"/>
            <a:chOff x="0" y="0"/>
            <a:chExt cx="707136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71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42" r="0" b="-2534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33350"/>
              <a:ext cx="7071360" cy="1962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F5C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31.4%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83680" y="3017520"/>
            <a:ext cx="5303520" cy="1188720"/>
            <a:chOff x="0" y="0"/>
            <a:chExt cx="7071360" cy="1584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0713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los RF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Totales (70)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35840" y="1554480"/>
            <a:ext cx="5303520" cy="2743200"/>
            <a:chOff x="0" y="0"/>
            <a:chExt cx="7071360" cy="3657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713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07136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778752" y="0"/>
                  </a:lnTo>
                  <a:cubicBezTo>
                    <a:pt x="6940297" y="0"/>
                    <a:pt x="7071360" y="131064"/>
                    <a:pt x="7071360" y="292608"/>
                  </a:cubicBezTo>
                  <a:lnTo>
                    <a:pt x="7071360" y="3364992"/>
                  </a:lnTo>
                  <a:cubicBezTo>
                    <a:pt x="7071360" y="3526536"/>
                    <a:pt x="6940297" y="3657600"/>
                    <a:pt x="6778752" y="3657600"/>
                  </a:cubicBezTo>
                  <a:lnTo>
                    <a:pt x="292608" y="3657600"/>
                  </a:lnTo>
                  <a:cubicBezTo>
                    <a:pt x="131064" y="3657600"/>
                    <a:pt x="0" y="3526536"/>
                    <a:pt x="0" y="336499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35840" y="1682496"/>
            <a:ext cx="5303520" cy="1371600"/>
            <a:chOff x="0" y="0"/>
            <a:chExt cx="707136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71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42" r="0" b="-253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33350"/>
              <a:ext cx="7071360" cy="1962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semanas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435840" y="3017520"/>
            <a:ext cx="5303520" cy="1188720"/>
            <a:chOff x="0" y="0"/>
            <a:chExt cx="7071360" cy="1584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0713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Duración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 Sprint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31520" y="4663440"/>
            <a:ext cx="658368" cy="658368"/>
            <a:chOff x="0" y="0"/>
            <a:chExt cx="877824" cy="8778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5C54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9536" y="4791456"/>
            <a:ext cx="402336" cy="402336"/>
            <a:chOff x="0" y="0"/>
            <a:chExt cx="536448" cy="536448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45920" y="4572000"/>
            <a:ext cx="16459200" cy="914400"/>
            <a:chOff x="0" y="0"/>
            <a:chExt cx="2194560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19456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Centralización: </a:t>
              </a:r>
              <a:r>
                <a:rPr lang="en-US" sz="24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Formulario web reemplaza WhatsApp. Todas las incidencias quedan registradas con número único.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31520" y="5705856"/>
            <a:ext cx="658368" cy="658368"/>
            <a:chOff x="0" y="0"/>
            <a:chExt cx="877824" cy="877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4A9FD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59536" y="5833872"/>
            <a:ext cx="402336" cy="402336"/>
            <a:chOff x="0" y="0"/>
            <a:chExt cx="536448" cy="536448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45920" y="5614416"/>
            <a:ext cx="16459200" cy="914400"/>
            <a:chOff x="0" y="0"/>
            <a:chExt cx="2194560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19456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Asignación automática: </a:t>
              </a:r>
              <a:r>
                <a:rPr lang="en-US" sz="24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Motor de asignación por categoría elimina derivación manual. Tiempo de 2 hrs → &lt; 1 min.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31520" y="6748272"/>
            <a:ext cx="658368" cy="658368"/>
            <a:chOff x="0" y="0"/>
            <a:chExt cx="877824" cy="8778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5C54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59536" y="6876288"/>
            <a:ext cx="402336" cy="402336"/>
            <a:chOff x="0" y="0"/>
            <a:chExt cx="536448" cy="536448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645920" y="6656832"/>
            <a:ext cx="16459200" cy="914400"/>
            <a:chOff x="0" y="0"/>
            <a:chExt cx="2194560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19456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Trazabilidad completa: </a:t>
              </a:r>
              <a:r>
                <a:rPr lang="en-US" sz="24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Bitácora inmutable en MySQL registra cada cambio de estado con IP y timestamp.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31520" y="7790688"/>
            <a:ext cx="658368" cy="658368"/>
            <a:chOff x="0" y="0"/>
            <a:chExt cx="877824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59536" y="7918704"/>
            <a:ext cx="402336" cy="402336"/>
            <a:chOff x="0" y="0"/>
            <a:chExt cx="536448" cy="536448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5920" y="7699248"/>
            <a:ext cx="16459200" cy="914400"/>
            <a:chOff x="0" y="0"/>
            <a:chExt cx="21945600" cy="1219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219456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Notificaciones: </a:t>
              </a:r>
              <a:r>
                <a:rPr lang="en-US" sz="24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Correos automáticos al crear, asignar, resolver y cerrar tickets.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31520" y="8833104"/>
            <a:ext cx="658368" cy="658368"/>
            <a:chOff x="0" y="0"/>
            <a:chExt cx="877824" cy="87782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9B59B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59536" y="8961120"/>
            <a:ext cx="402336" cy="402336"/>
            <a:chOff x="0" y="0"/>
            <a:chExt cx="536448" cy="536448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645920" y="8741664"/>
            <a:ext cx="16459200" cy="914400"/>
            <a:chOff x="0" y="0"/>
            <a:chExt cx="21945600" cy="1219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19456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con SLA: </a:t>
              </a:r>
              <a:r>
                <a:rPr lang="en-US" sz="24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Métricas en tiempo real: tickets abiertos, tiempo promedio, cumplimiento (92% en alta prioridad).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743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1605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VALOR ENTREGADO AL NEGOCIO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0080" y="1645920"/>
            <a:ext cx="5303520" cy="3657600"/>
            <a:chOff x="0" y="0"/>
            <a:chExt cx="7071360" cy="4876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71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07136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778752" y="0"/>
                  </a:lnTo>
                  <a:cubicBezTo>
                    <a:pt x="6940297" y="0"/>
                    <a:pt x="7071360" y="131064"/>
                    <a:pt x="7071360" y="292608"/>
                  </a:cubicBezTo>
                  <a:lnTo>
                    <a:pt x="7071360" y="4584192"/>
                  </a:lnTo>
                  <a:cubicBezTo>
                    <a:pt x="7071360" y="4745736"/>
                    <a:pt x="6940297" y="4876800"/>
                    <a:pt x="6778752" y="4876800"/>
                  </a:cubicBezTo>
                  <a:lnTo>
                    <a:pt x="292608" y="4876800"/>
                  </a:lnTo>
                  <a:cubicBezTo>
                    <a:pt x="131064" y="4876800"/>
                    <a:pt x="0" y="4745736"/>
                    <a:pt x="0" y="458419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560320" y="1920240"/>
            <a:ext cx="914400" cy="914400"/>
            <a:chOff x="0" y="0"/>
            <a:chExt cx="1219200" cy="12192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0080" y="2926080"/>
            <a:ext cx="5303520" cy="1188720"/>
            <a:chOff x="0" y="0"/>
            <a:chExt cx="7071360" cy="15849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707136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5C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min → 1,5 min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0080" y="4114800"/>
            <a:ext cx="5303520" cy="1097280"/>
            <a:chOff x="0" y="0"/>
            <a:chExt cx="707136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71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0713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Tiempo de registro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incidencias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00800" y="1645920"/>
            <a:ext cx="5303520" cy="3657600"/>
            <a:chOff x="0" y="0"/>
            <a:chExt cx="7071360" cy="4876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71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07136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778752" y="0"/>
                  </a:lnTo>
                  <a:cubicBezTo>
                    <a:pt x="6940297" y="0"/>
                    <a:pt x="7071360" y="131064"/>
                    <a:pt x="7071360" y="292608"/>
                  </a:cubicBezTo>
                  <a:lnTo>
                    <a:pt x="7071360" y="4584192"/>
                  </a:lnTo>
                  <a:cubicBezTo>
                    <a:pt x="7071360" y="4745736"/>
                    <a:pt x="6940297" y="4876800"/>
                    <a:pt x="6778752" y="4876800"/>
                  </a:cubicBezTo>
                  <a:lnTo>
                    <a:pt x="292608" y="4876800"/>
                  </a:lnTo>
                  <a:cubicBezTo>
                    <a:pt x="131064" y="4876800"/>
                    <a:pt x="0" y="4745736"/>
                    <a:pt x="0" y="458419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321040" y="1920240"/>
            <a:ext cx="914400" cy="914400"/>
            <a:chOff x="0" y="0"/>
            <a:chExt cx="1219200" cy="12192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00800" y="2926080"/>
            <a:ext cx="5303520" cy="1188720"/>
            <a:chOff x="0" y="0"/>
            <a:chExt cx="7071360" cy="1584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707136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00800" y="4114800"/>
            <a:ext cx="5303520" cy="1097280"/>
            <a:chOff x="0" y="0"/>
            <a:chExt cx="707136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71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0713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Tickets con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historial completo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61520" y="1645920"/>
            <a:ext cx="5303520" cy="3657600"/>
            <a:chOff x="0" y="0"/>
            <a:chExt cx="7071360" cy="4876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71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07136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778752" y="0"/>
                  </a:lnTo>
                  <a:cubicBezTo>
                    <a:pt x="6940297" y="0"/>
                    <a:pt x="7071360" y="131064"/>
                    <a:pt x="7071360" y="292608"/>
                  </a:cubicBezTo>
                  <a:lnTo>
                    <a:pt x="7071360" y="4584192"/>
                  </a:lnTo>
                  <a:cubicBezTo>
                    <a:pt x="7071360" y="4745736"/>
                    <a:pt x="6940297" y="4876800"/>
                    <a:pt x="6778752" y="4876800"/>
                  </a:cubicBezTo>
                  <a:lnTo>
                    <a:pt x="292608" y="4876800"/>
                  </a:lnTo>
                  <a:cubicBezTo>
                    <a:pt x="131064" y="4876800"/>
                    <a:pt x="0" y="4745736"/>
                    <a:pt x="0" y="458419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081760" y="1920240"/>
            <a:ext cx="914400" cy="914400"/>
            <a:chOff x="0" y="0"/>
            <a:chExt cx="1219200" cy="12192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161520" y="2926080"/>
            <a:ext cx="5303520" cy="1188720"/>
            <a:chOff x="0" y="0"/>
            <a:chExt cx="7071360" cy="1584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707136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4A9F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2h → &lt; 1 min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161520" y="4114800"/>
            <a:ext cx="5303520" cy="1097280"/>
            <a:chOff x="0" y="0"/>
            <a:chExt cx="707136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71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0713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Tiempo de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derivación automática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520440" y="5579745"/>
            <a:ext cx="5303520" cy="3657600"/>
            <a:chOff x="0" y="0"/>
            <a:chExt cx="7071360" cy="4876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71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07136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778752" y="0"/>
                  </a:lnTo>
                  <a:cubicBezTo>
                    <a:pt x="6940297" y="0"/>
                    <a:pt x="7071360" y="131064"/>
                    <a:pt x="7071360" y="292608"/>
                  </a:cubicBezTo>
                  <a:lnTo>
                    <a:pt x="7071360" y="4584192"/>
                  </a:lnTo>
                  <a:cubicBezTo>
                    <a:pt x="7071360" y="4745736"/>
                    <a:pt x="6940297" y="4876800"/>
                    <a:pt x="6778752" y="4876800"/>
                  </a:cubicBezTo>
                  <a:lnTo>
                    <a:pt x="292608" y="4876800"/>
                  </a:lnTo>
                  <a:cubicBezTo>
                    <a:pt x="131064" y="4876800"/>
                    <a:pt x="0" y="4745736"/>
                    <a:pt x="0" y="458419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760720" y="5791455"/>
            <a:ext cx="914400" cy="914400"/>
            <a:chOff x="0" y="0"/>
            <a:chExt cx="1219200" cy="121920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520440" y="6859905"/>
            <a:ext cx="5303520" cy="1188720"/>
            <a:chOff x="0" y="0"/>
            <a:chExt cx="7071360" cy="1584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707136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92%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520440" y="8048625"/>
            <a:ext cx="5303520" cy="1097280"/>
            <a:chOff x="0" y="0"/>
            <a:chExt cx="7071360" cy="1463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71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70713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Cumplimiento SLA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 tickets alta prioridad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281160" y="5579745"/>
            <a:ext cx="5303520" cy="3657600"/>
            <a:chOff x="0" y="0"/>
            <a:chExt cx="7071360" cy="4876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71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07136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778752" y="0"/>
                  </a:lnTo>
                  <a:cubicBezTo>
                    <a:pt x="6940297" y="0"/>
                    <a:pt x="7071360" y="131064"/>
                    <a:pt x="7071360" y="292608"/>
                  </a:cubicBezTo>
                  <a:lnTo>
                    <a:pt x="7071360" y="4584192"/>
                  </a:lnTo>
                  <a:cubicBezTo>
                    <a:pt x="7071360" y="4745736"/>
                    <a:pt x="6940297" y="4876800"/>
                    <a:pt x="6778752" y="4876800"/>
                  </a:cubicBezTo>
                  <a:lnTo>
                    <a:pt x="292608" y="4876800"/>
                  </a:lnTo>
                  <a:cubicBezTo>
                    <a:pt x="131064" y="4876800"/>
                    <a:pt x="0" y="4745736"/>
                    <a:pt x="0" y="458419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521440" y="5791455"/>
            <a:ext cx="914400" cy="914400"/>
            <a:chOff x="0" y="0"/>
            <a:chExt cx="1219200" cy="1219200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281160" y="6859905"/>
            <a:ext cx="5303520" cy="1188720"/>
            <a:chOff x="0" y="0"/>
            <a:chExt cx="7071360" cy="1584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707136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9B59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18%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281160" y="8048625"/>
            <a:ext cx="5303520" cy="1097280"/>
            <a:chOff x="0" y="0"/>
            <a:chExt cx="7071360" cy="14630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071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70713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Autoservicio: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tickets resueltos sin enviar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74320"/>
            <a:ext cx="16459200" cy="1325500"/>
            <a:chOff x="0" y="0"/>
            <a:chExt cx="21945600" cy="17673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67334"/>
            </a:xfrm>
            <a:custGeom>
              <a:avLst/>
              <a:gdLst/>
              <a:ahLst/>
              <a:cxnLst/>
              <a:rect r="r" b="b" t="t" l="l"/>
              <a:pathLst>
                <a:path h="176733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67334"/>
                  </a:lnTo>
                  <a:lnTo>
                    <a:pt x="0" y="17673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61" r="0" b="-18334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1910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ALCANCE FUNCIONAL DEL INCREMENTO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1645920"/>
            <a:ext cx="8229600" cy="2523744"/>
            <a:chOff x="0" y="0"/>
            <a:chExt cx="10972800" cy="33649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09728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728960" y="0"/>
                  </a:lnTo>
                  <a:cubicBezTo>
                    <a:pt x="10863580" y="0"/>
                    <a:pt x="10972800" y="109220"/>
                    <a:pt x="10972800" y="243840"/>
                  </a:cubicBezTo>
                  <a:lnTo>
                    <a:pt x="10972800" y="3121152"/>
                  </a:lnTo>
                  <a:cubicBezTo>
                    <a:pt x="10972800" y="3255772"/>
                    <a:pt x="10863580" y="3364992"/>
                    <a:pt x="10728960" y="3364992"/>
                  </a:cubicBezTo>
                  <a:lnTo>
                    <a:pt x="243840" y="3364992"/>
                  </a:lnTo>
                  <a:cubicBezTo>
                    <a:pt x="109220" y="3364992"/>
                    <a:pt x="0" y="3255772"/>
                    <a:pt x="0" y="312115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828800"/>
            <a:ext cx="877824" cy="877824"/>
            <a:chOff x="0" y="0"/>
            <a:chExt cx="1170432" cy="11704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4A9FD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7280" y="1975104"/>
            <a:ext cx="512064" cy="512064"/>
            <a:chOff x="0" y="0"/>
            <a:chExt cx="682752" cy="68275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011680" y="1792224"/>
            <a:ext cx="6400800" cy="694944"/>
            <a:chOff x="0" y="0"/>
            <a:chExt cx="8534400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534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Autenticación y Usuarios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2596896"/>
            <a:ext cx="7680960" cy="1426464"/>
            <a:chOff x="0" y="0"/>
            <a:chExt cx="10241280" cy="19019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241280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Registro, login, roles (Solicitante/Técnico/Admin), cambio de contraseña, sesiones seguras.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4425696"/>
            <a:ext cx="8229600" cy="2523744"/>
            <a:chOff x="0" y="0"/>
            <a:chExt cx="10972800" cy="33649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09728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728960" y="0"/>
                  </a:lnTo>
                  <a:cubicBezTo>
                    <a:pt x="10863580" y="0"/>
                    <a:pt x="10972800" y="109220"/>
                    <a:pt x="10972800" y="243840"/>
                  </a:cubicBezTo>
                  <a:lnTo>
                    <a:pt x="10972800" y="3121152"/>
                  </a:lnTo>
                  <a:cubicBezTo>
                    <a:pt x="10972800" y="3255772"/>
                    <a:pt x="10863580" y="3364992"/>
                    <a:pt x="10728960" y="3364992"/>
                  </a:cubicBezTo>
                  <a:lnTo>
                    <a:pt x="243840" y="3364992"/>
                  </a:lnTo>
                  <a:cubicBezTo>
                    <a:pt x="109220" y="3364992"/>
                    <a:pt x="0" y="3255772"/>
                    <a:pt x="0" y="312115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4608576"/>
            <a:ext cx="877824" cy="877824"/>
            <a:chOff x="0" y="0"/>
            <a:chExt cx="1170432" cy="1170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5C54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4754880"/>
            <a:ext cx="512064" cy="512064"/>
            <a:chOff x="0" y="0"/>
            <a:chExt cx="682752" cy="682752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011680" y="4572000"/>
            <a:ext cx="6400800" cy="694944"/>
            <a:chOff x="0" y="0"/>
            <a:chExt cx="853440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534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Creación de Tickets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5376672"/>
            <a:ext cx="7680960" cy="1426464"/>
            <a:chOff x="0" y="0"/>
            <a:chExt cx="10241280" cy="19019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241280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Formulario web con categorías (red, software, HW, sistemas externos), prioridades y adjuntos hasta 10 MB.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8640" y="7205472"/>
            <a:ext cx="8229600" cy="2523744"/>
            <a:chOff x="0" y="0"/>
            <a:chExt cx="10972800" cy="33649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09728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728960" y="0"/>
                  </a:lnTo>
                  <a:cubicBezTo>
                    <a:pt x="10863580" y="0"/>
                    <a:pt x="10972800" y="109220"/>
                    <a:pt x="10972800" y="243840"/>
                  </a:cubicBezTo>
                  <a:lnTo>
                    <a:pt x="10972800" y="3121152"/>
                  </a:lnTo>
                  <a:cubicBezTo>
                    <a:pt x="10972800" y="3255772"/>
                    <a:pt x="10863580" y="3364992"/>
                    <a:pt x="10728960" y="3364992"/>
                  </a:cubicBezTo>
                  <a:lnTo>
                    <a:pt x="243840" y="3364992"/>
                  </a:lnTo>
                  <a:cubicBezTo>
                    <a:pt x="109220" y="3364992"/>
                    <a:pt x="0" y="3255772"/>
                    <a:pt x="0" y="312115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7388352"/>
            <a:ext cx="877824" cy="877824"/>
            <a:chOff x="0" y="0"/>
            <a:chExt cx="1170432" cy="11704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97280" y="7534656"/>
            <a:ext cx="512064" cy="512064"/>
            <a:chOff x="0" y="0"/>
            <a:chExt cx="682752" cy="682752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011680" y="7351776"/>
            <a:ext cx="6400800" cy="694944"/>
            <a:chOff x="0" y="0"/>
            <a:chExt cx="853440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8534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Ciclo de Vida del Ticket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8156448"/>
            <a:ext cx="7680960" cy="1426464"/>
            <a:chOff x="0" y="0"/>
            <a:chExt cx="10241280" cy="19019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241280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Estados: Pendiente → En Proceso → Resuelto → Cerrado. Asignación manual/automática a técnicos.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09760" y="1645920"/>
            <a:ext cx="8229600" cy="2523744"/>
            <a:chOff x="0" y="0"/>
            <a:chExt cx="10972800" cy="33649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09728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728960" y="0"/>
                  </a:lnTo>
                  <a:cubicBezTo>
                    <a:pt x="10863580" y="0"/>
                    <a:pt x="10972800" y="109220"/>
                    <a:pt x="10972800" y="243840"/>
                  </a:cubicBezTo>
                  <a:lnTo>
                    <a:pt x="10972800" y="3121152"/>
                  </a:lnTo>
                  <a:cubicBezTo>
                    <a:pt x="10972800" y="3255772"/>
                    <a:pt x="10863580" y="3364992"/>
                    <a:pt x="10728960" y="3364992"/>
                  </a:cubicBezTo>
                  <a:lnTo>
                    <a:pt x="243840" y="3364992"/>
                  </a:lnTo>
                  <a:cubicBezTo>
                    <a:pt x="109220" y="3364992"/>
                    <a:pt x="0" y="3255772"/>
                    <a:pt x="0" y="312115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875520" y="1828800"/>
            <a:ext cx="877824" cy="877824"/>
            <a:chOff x="0" y="0"/>
            <a:chExt cx="1170432" cy="11704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058400" y="1975104"/>
            <a:ext cx="512064" cy="512064"/>
            <a:chOff x="0" y="0"/>
            <a:chExt cx="682752" cy="682752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972800" y="1792224"/>
            <a:ext cx="6400800" cy="694944"/>
            <a:chOff x="0" y="0"/>
            <a:chExt cx="853440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8534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Notificaciones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875520" y="2596896"/>
            <a:ext cx="7680960" cy="1426464"/>
            <a:chOff x="0" y="0"/>
            <a:chExt cx="10241280" cy="19019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241280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Correos automáticos al crear ticket y al cambiar a estado resuelto.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509760" y="4425696"/>
            <a:ext cx="8229600" cy="2523744"/>
            <a:chOff x="0" y="0"/>
            <a:chExt cx="10972800" cy="33649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09728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728960" y="0"/>
                  </a:lnTo>
                  <a:cubicBezTo>
                    <a:pt x="10863580" y="0"/>
                    <a:pt x="10972800" y="109220"/>
                    <a:pt x="10972800" y="243840"/>
                  </a:cubicBezTo>
                  <a:lnTo>
                    <a:pt x="10972800" y="3121152"/>
                  </a:lnTo>
                  <a:cubicBezTo>
                    <a:pt x="10972800" y="3255772"/>
                    <a:pt x="10863580" y="3364992"/>
                    <a:pt x="10728960" y="3364992"/>
                  </a:cubicBezTo>
                  <a:lnTo>
                    <a:pt x="243840" y="3364992"/>
                  </a:lnTo>
                  <a:cubicBezTo>
                    <a:pt x="109220" y="3364992"/>
                    <a:pt x="0" y="3255772"/>
                    <a:pt x="0" y="312115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875520" y="4608576"/>
            <a:ext cx="877824" cy="877824"/>
            <a:chOff x="0" y="0"/>
            <a:chExt cx="1170432" cy="117043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9B59B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058400" y="4754880"/>
            <a:ext cx="512064" cy="512064"/>
            <a:chOff x="0" y="0"/>
            <a:chExt cx="682752" cy="682752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972800" y="4572000"/>
            <a:ext cx="6400800" cy="694944"/>
            <a:chOff x="0" y="0"/>
            <a:chExt cx="8534400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8534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para Jefatura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875520" y="5376672"/>
            <a:ext cx="7680960" cy="1426464"/>
            <a:chOff x="0" y="0"/>
            <a:chExt cx="10241280" cy="19019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241280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KPIs en tiempo real: tickets cerrados, en ejecución y gráfico de barras por nivel de gravedad.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09760" y="7205472"/>
            <a:ext cx="8229600" cy="2523744"/>
            <a:chOff x="0" y="0"/>
            <a:chExt cx="10972800" cy="33649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09728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728960" y="0"/>
                  </a:lnTo>
                  <a:cubicBezTo>
                    <a:pt x="10863580" y="0"/>
                    <a:pt x="10972800" y="109220"/>
                    <a:pt x="10972800" y="243840"/>
                  </a:cubicBezTo>
                  <a:lnTo>
                    <a:pt x="10972800" y="3121152"/>
                  </a:lnTo>
                  <a:cubicBezTo>
                    <a:pt x="10972800" y="3255772"/>
                    <a:pt x="10863580" y="3364992"/>
                    <a:pt x="10728960" y="3364992"/>
                  </a:cubicBezTo>
                  <a:lnTo>
                    <a:pt x="243840" y="3364992"/>
                  </a:lnTo>
                  <a:cubicBezTo>
                    <a:pt x="109220" y="3364992"/>
                    <a:pt x="0" y="3255772"/>
                    <a:pt x="0" y="312115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875520" y="7388352"/>
            <a:ext cx="877824" cy="877824"/>
            <a:chOff x="0" y="0"/>
            <a:chExt cx="1170432" cy="117043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4A9FD5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058400" y="7534656"/>
            <a:ext cx="512064" cy="512064"/>
            <a:chOff x="0" y="0"/>
            <a:chExt cx="682752" cy="682752"/>
          </a:xfrm>
        </p:grpSpPr>
        <p:sp>
          <p:nvSpPr>
            <p:cNvPr name="Freeform 70" id="70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972800" y="7351776"/>
            <a:ext cx="6400800" cy="694944"/>
            <a:chOff x="0" y="0"/>
            <a:chExt cx="8534400" cy="9265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8534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Seguridad Básica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875520" y="8156448"/>
            <a:ext cx="7680960" cy="1426464"/>
            <a:chOff x="0" y="0"/>
            <a:chExt cx="10241280" cy="19019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241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0241280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bcrypt, HTTPS, sesiones con expiración, sin bloqueo de cuenta, 2FA opcional.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182880"/>
            <a:ext cx="17190720" cy="1210196"/>
            <a:chOff x="0" y="0"/>
            <a:chExt cx="22920960" cy="16135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20961" cy="1613595"/>
            </a:xfrm>
            <a:custGeom>
              <a:avLst/>
              <a:gdLst/>
              <a:ahLst/>
              <a:cxnLst/>
              <a:rect r="r" b="b" t="t" l="l"/>
              <a:pathLst>
                <a:path h="1613595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613595"/>
                  </a:lnTo>
                  <a:lnTo>
                    <a:pt x="0" y="16135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226" r="0" b="-2183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2920960" cy="1737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REQUERIMIENTOS FUNCIONALES — FORMATO ESA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415671" y="3131332"/>
            <a:ext cx="10843629" cy="6201254"/>
          </a:xfrm>
          <a:custGeom>
            <a:avLst/>
            <a:gdLst/>
            <a:ahLst/>
            <a:cxnLst/>
            <a:rect r="r" b="b" t="t" l="l"/>
            <a:pathLst>
              <a:path h="6201254" w="10843629">
                <a:moveTo>
                  <a:pt x="0" y="0"/>
                </a:moveTo>
                <a:lnTo>
                  <a:pt x="10843629" y="0"/>
                </a:lnTo>
                <a:lnTo>
                  <a:pt x="10843629" y="6201254"/>
                </a:lnTo>
                <a:lnTo>
                  <a:pt x="0" y="6201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16876"/>
            <a:ext cx="16230600" cy="232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37"/>
              </a:lnSpc>
            </a:pPr>
            <a:r>
              <a:rPr lang="en-US" sz="395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Formato ESA (Especificación de Requisitos), el cual evalúa: necesidad, prioridad, estabilidad, claridad y verificabilidad</a:t>
            </a:r>
          </a:p>
          <a:p>
            <a:pPr algn="just">
              <a:lnSpc>
                <a:spcPts val="775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60867" y="3487447"/>
            <a:ext cx="5149505" cy="529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9"/>
              </a:lnSpc>
              <a:spcBef>
                <a:spcPct val="0"/>
              </a:spcBef>
            </a:pPr>
            <a:r>
              <a:rPr lang="en-US" b="true" sz="6758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 escala utilizada es:</a:t>
            </a:r>
          </a:p>
          <a:p>
            <a:pPr algn="l">
              <a:lnSpc>
                <a:spcPts val="8109"/>
              </a:lnSpc>
              <a:spcBef>
                <a:spcPct val="0"/>
              </a:spcBef>
            </a:pPr>
            <a:r>
              <a:rPr lang="en-US" b="true" sz="6758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 = Alta</a:t>
            </a:r>
          </a:p>
          <a:p>
            <a:pPr algn="l">
              <a:lnSpc>
                <a:spcPts val="8109"/>
              </a:lnSpc>
              <a:spcBef>
                <a:spcPct val="0"/>
              </a:spcBef>
            </a:pPr>
            <a:r>
              <a:rPr lang="en-US" b="true" sz="6758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 = Media</a:t>
            </a:r>
          </a:p>
          <a:p>
            <a:pPr algn="l">
              <a:lnSpc>
                <a:spcPts val="8109"/>
              </a:lnSpc>
              <a:spcBef>
                <a:spcPct val="0"/>
              </a:spcBef>
            </a:pPr>
            <a:r>
              <a:rPr lang="en-US" b="true" sz="6758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= Baja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50818" y="1382120"/>
            <a:ext cx="8186364" cy="8420965"/>
          </a:xfrm>
          <a:custGeom>
            <a:avLst/>
            <a:gdLst/>
            <a:ahLst/>
            <a:cxnLst/>
            <a:rect r="r" b="b" t="t" l="l"/>
            <a:pathLst>
              <a:path h="8420965" w="8186364">
                <a:moveTo>
                  <a:pt x="0" y="0"/>
                </a:moveTo>
                <a:lnTo>
                  <a:pt x="8186364" y="0"/>
                </a:lnTo>
                <a:lnTo>
                  <a:pt x="8186364" y="8420966"/>
                </a:lnTo>
                <a:lnTo>
                  <a:pt x="0" y="8420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8670" y="-120355"/>
            <a:ext cx="16710660" cy="1911428"/>
            <a:chOff x="0" y="0"/>
            <a:chExt cx="22280880" cy="25485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80880" cy="2548570"/>
            </a:xfrm>
            <a:custGeom>
              <a:avLst/>
              <a:gdLst/>
              <a:ahLst/>
              <a:cxnLst/>
              <a:rect r="r" b="b" t="t" l="l"/>
              <a:pathLst>
                <a:path h="2548570" w="22280880">
                  <a:moveTo>
                    <a:pt x="0" y="0"/>
                  </a:moveTo>
                  <a:lnTo>
                    <a:pt x="22280880" y="0"/>
                  </a:lnTo>
                  <a:lnTo>
                    <a:pt x="22280880" y="2548570"/>
                  </a:lnTo>
                  <a:lnTo>
                    <a:pt x="0" y="25485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30" r="-2872" b="-101552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22280880" cy="2672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670" y="-120355"/>
            <a:ext cx="16710660" cy="1911428"/>
            <a:chOff x="0" y="0"/>
            <a:chExt cx="22280880" cy="2548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80880" cy="2548570"/>
            </a:xfrm>
            <a:custGeom>
              <a:avLst/>
              <a:gdLst/>
              <a:ahLst/>
              <a:cxnLst/>
              <a:rect r="r" b="b" t="t" l="l"/>
              <a:pathLst>
                <a:path h="2548570" w="22280880">
                  <a:moveTo>
                    <a:pt x="0" y="0"/>
                  </a:moveTo>
                  <a:lnTo>
                    <a:pt x="22280880" y="0"/>
                  </a:lnTo>
                  <a:lnTo>
                    <a:pt x="22280880" y="2548570"/>
                  </a:lnTo>
                  <a:lnTo>
                    <a:pt x="0" y="25485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930" r="-2872" b="-10155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2280880" cy="2672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CU-08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332785" y="1508322"/>
            <a:ext cx="13622431" cy="7935066"/>
          </a:xfrm>
          <a:custGeom>
            <a:avLst/>
            <a:gdLst/>
            <a:ahLst/>
            <a:cxnLst/>
            <a:rect r="r" b="b" t="t" l="l"/>
            <a:pathLst>
              <a:path h="7935066" w="13622431">
                <a:moveTo>
                  <a:pt x="0" y="0"/>
                </a:moveTo>
                <a:lnTo>
                  <a:pt x="13622430" y="0"/>
                </a:lnTo>
                <a:lnTo>
                  <a:pt x="13622430" y="7935065"/>
                </a:lnTo>
                <a:lnTo>
                  <a:pt x="0" y="79350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670" y="-120355"/>
            <a:ext cx="16710660" cy="1911428"/>
            <a:chOff x="0" y="0"/>
            <a:chExt cx="22280880" cy="2548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80880" cy="2548570"/>
            </a:xfrm>
            <a:custGeom>
              <a:avLst/>
              <a:gdLst/>
              <a:ahLst/>
              <a:cxnLst/>
              <a:rect r="r" b="b" t="t" l="l"/>
              <a:pathLst>
                <a:path h="2548570" w="22280880">
                  <a:moveTo>
                    <a:pt x="0" y="0"/>
                  </a:moveTo>
                  <a:lnTo>
                    <a:pt x="22280880" y="0"/>
                  </a:lnTo>
                  <a:lnTo>
                    <a:pt x="22280880" y="2548570"/>
                  </a:lnTo>
                  <a:lnTo>
                    <a:pt x="0" y="25485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930" r="-2872" b="-10155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2280880" cy="2672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Vista en el sistema CU-08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921872" y="1471533"/>
            <a:ext cx="10444256" cy="8133465"/>
          </a:xfrm>
          <a:custGeom>
            <a:avLst/>
            <a:gdLst/>
            <a:ahLst/>
            <a:cxnLst/>
            <a:rect r="r" b="b" t="t" l="l"/>
            <a:pathLst>
              <a:path h="8133465" w="10444256">
                <a:moveTo>
                  <a:pt x="0" y="0"/>
                </a:moveTo>
                <a:lnTo>
                  <a:pt x="10444256" y="0"/>
                </a:lnTo>
                <a:lnTo>
                  <a:pt x="10444256" y="8133465"/>
                </a:lnTo>
                <a:lnTo>
                  <a:pt x="0" y="81334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670" y="-253021"/>
            <a:ext cx="16710660" cy="1911428"/>
            <a:chOff x="0" y="0"/>
            <a:chExt cx="22280880" cy="2548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80880" cy="2548570"/>
            </a:xfrm>
            <a:custGeom>
              <a:avLst/>
              <a:gdLst/>
              <a:ahLst/>
              <a:cxnLst/>
              <a:rect r="r" b="b" t="t" l="l"/>
              <a:pathLst>
                <a:path h="2548570" w="22280880">
                  <a:moveTo>
                    <a:pt x="0" y="0"/>
                  </a:moveTo>
                  <a:lnTo>
                    <a:pt x="22280880" y="0"/>
                  </a:lnTo>
                  <a:lnTo>
                    <a:pt x="22280880" y="2548570"/>
                  </a:lnTo>
                  <a:lnTo>
                    <a:pt x="0" y="25485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930" r="-2872" b="-10155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2280880" cy="2672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CU-35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509270" y="1283386"/>
            <a:ext cx="7269461" cy="8691480"/>
          </a:xfrm>
          <a:custGeom>
            <a:avLst/>
            <a:gdLst/>
            <a:ahLst/>
            <a:cxnLst/>
            <a:rect r="r" b="b" t="t" l="l"/>
            <a:pathLst>
              <a:path h="8691480" w="7269461">
                <a:moveTo>
                  <a:pt x="0" y="0"/>
                </a:moveTo>
                <a:lnTo>
                  <a:pt x="7269460" y="0"/>
                </a:lnTo>
                <a:lnTo>
                  <a:pt x="7269460" y="8691480"/>
                </a:lnTo>
                <a:lnTo>
                  <a:pt x="0" y="869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670" y="-120355"/>
            <a:ext cx="16710660" cy="1911428"/>
            <a:chOff x="0" y="0"/>
            <a:chExt cx="22280880" cy="2548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80880" cy="2548570"/>
            </a:xfrm>
            <a:custGeom>
              <a:avLst/>
              <a:gdLst/>
              <a:ahLst/>
              <a:cxnLst/>
              <a:rect r="r" b="b" t="t" l="l"/>
              <a:pathLst>
                <a:path h="2548570" w="22280880">
                  <a:moveTo>
                    <a:pt x="0" y="0"/>
                  </a:moveTo>
                  <a:lnTo>
                    <a:pt x="22280880" y="0"/>
                  </a:lnTo>
                  <a:lnTo>
                    <a:pt x="22280880" y="2548570"/>
                  </a:lnTo>
                  <a:lnTo>
                    <a:pt x="0" y="25485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930" r="-2872" b="-10155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2280880" cy="2672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CU-35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43675" y="1606541"/>
            <a:ext cx="14800650" cy="7363324"/>
          </a:xfrm>
          <a:custGeom>
            <a:avLst/>
            <a:gdLst/>
            <a:ahLst/>
            <a:cxnLst/>
            <a:rect r="r" b="b" t="t" l="l"/>
            <a:pathLst>
              <a:path h="7363324" w="14800650">
                <a:moveTo>
                  <a:pt x="0" y="0"/>
                </a:moveTo>
                <a:lnTo>
                  <a:pt x="14800650" y="0"/>
                </a:lnTo>
                <a:lnTo>
                  <a:pt x="14800650" y="7363323"/>
                </a:lnTo>
                <a:lnTo>
                  <a:pt x="0" y="73633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670" y="-120355"/>
            <a:ext cx="16710660" cy="1911428"/>
            <a:chOff x="0" y="0"/>
            <a:chExt cx="22280880" cy="2548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80880" cy="2548570"/>
            </a:xfrm>
            <a:custGeom>
              <a:avLst/>
              <a:gdLst/>
              <a:ahLst/>
              <a:cxnLst/>
              <a:rect r="r" b="b" t="t" l="l"/>
              <a:pathLst>
                <a:path h="2548570" w="22280880">
                  <a:moveTo>
                    <a:pt x="0" y="0"/>
                  </a:moveTo>
                  <a:lnTo>
                    <a:pt x="22280880" y="0"/>
                  </a:lnTo>
                  <a:lnTo>
                    <a:pt x="22280880" y="2548570"/>
                  </a:lnTo>
                  <a:lnTo>
                    <a:pt x="0" y="25485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930" r="-2872" b="-10155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2280880" cy="2672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Vista en el sistema CU-35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45986" y="1397145"/>
            <a:ext cx="8796027" cy="8554137"/>
          </a:xfrm>
          <a:custGeom>
            <a:avLst/>
            <a:gdLst/>
            <a:ahLst/>
            <a:cxnLst/>
            <a:rect r="r" b="b" t="t" l="l"/>
            <a:pathLst>
              <a:path h="8554137" w="8796027">
                <a:moveTo>
                  <a:pt x="0" y="0"/>
                </a:moveTo>
                <a:lnTo>
                  <a:pt x="8796028" y="0"/>
                </a:lnTo>
                <a:lnTo>
                  <a:pt x="8796028" y="8554136"/>
                </a:lnTo>
                <a:lnTo>
                  <a:pt x="0" y="85541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-162694"/>
            <a:ext cx="17190720" cy="2124596"/>
            <a:chOff x="0" y="0"/>
            <a:chExt cx="22920960" cy="2832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20961" cy="2832795"/>
            </a:xfrm>
            <a:custGeom>
              <a:avLst/>
              <a:gdLst/>
              <a:ahLst/>
              <a:cxnLst/>
              <a:rect r="r" b="b" t="t" l="l"/>
              <a:pathLst>
                <a:path h="2832795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832795"/>
                  </a:lnTo>
                  <a:lnTo>
                    <a:pt x="0" y="28327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987" r="0" b="-8133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2920960" cy="2947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VISTA DE DESARROLLO — DIAGRAMA DE COMPONENTES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2180977"/>
            <a:ext cx="17190720" cy="1499616"/>
            <a:chOff x="0" y="0"/>
            <a:chExt cx="22920960" cy="19994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5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2920959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2725887" y="0"/>
                  </a:lnTo>
                  <a:cubicBezTo>
                    <a:pt x="22833583" y="0"/>
                    <a:pt x="22920959" y="87376"/>
                    <a:pt x="22920959" y="195072"/>
                  </a:cubicBezTo>
                  <a:lnTo>
                    <a:pt x="22920959" y="1804416"/>
                  </a:lnTo>
                  <a:cubicBezTo>
                    <a:pt x="22920959" y="1912112"/>
                    <a:pt x="22833583" y="1999488"/>
                    <a:pt x="22725887" y="1999488"/>
                  </a:cubicBezTo>
                  <a:lnTo>
                    <a:pt x="195072" y="1999488"/>
                  </a:lnTo>
                  <a:cubicBezTo>
                    <a:pt x="87376" y="1999488"/>
                    <a:pt x="0" y="1912112"/>
                    <a:pt x="0" y="1804416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8640" y="2180977"/>
            <a:ext cx="3474720" cy="1499616"/>
            <a:chOff x="0" y="0"/>
            <a:chExt cx="4632960" cy="19994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4A9FD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2180977"/>
            <a:ext cx="3474720" cy="1499616"/>
            <a:chOff x="0" y="0"/>
            <a:chExt cx="4632960" cy="19994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73" t="0" r="-537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63296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CAPA DE PRESENTACIÓN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297680" y="2546737"/>
            <a:ext cx="731520" cy="731520"/>
            <a:chOff x="0" y="0"/>
            <a:chExt cx="975360" cy="97536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212080" y="2363857"/>
            <a:ext cx="12252960" cy="1133856"/>
            <a:chOff x="0" y="0"/>
            <a:chExt cx="16337280" cy="15118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337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564" r="0" b="-16056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3372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Cliente Web (Alpine.js + HTML5)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3826897"/>
            <a:ext cx="17190720" cy="1499616"/>
            <a:chOff x="0" y="0"/>
            <a:chExt cx="22920960" cy="19994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92095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2920959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2725887" y="0"/>
                  </a:lnTo>
                  <a:cubicBezTo>
                    <a:pt x="22833583" y="0"/>
                    <a:pt x="22920959" y="87376"/>
                    <a:pt x="22920959" y="195072"/>
                  </a:cubicBezTo>
                  <a:lnTo>
                    <a:pt x="22920959" y="1804416"/>
                  </a:lnTo>
                  <a:cubicBezTo>
                    <a:pt x="22920959" y="1912112"/>
                    <a:pt x="22833583" y="1999488"/>
                    <a:pt x="22725887" y="1999488"/>
                  </a:cubicBezTo>
                  <a:lnTo>
                    <a:pt x="195072" y="1999488"/>
                  </a:lnTo>
                  <a:cubicBezTo>
                    <a:pt x="87376" y="1999488"/>
                    <a:pt x="0" y="1912112"/>
                    <a:pt x="0" y="1804416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48640" y="3826897"/>
            <a:ext cx="3474720" cy="1499616"/>
            <a:chOff x="0" y="0"/>
            <a:chExt cx="4632960" cy="19994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5C54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48640" y="3826897"/>
            <a:ext cx="3474720" cy="1499616"/>
            <a:chOff x="0" y="0"/>
            <a:chExt cx="4632960" cy="19994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73" t="0" r="-537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63296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GATEWAY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297680" y="4192657"/>
            <a:ext cx="731520" cy="731520"/>
            <a:chOff x="0" y="0"/>
            <a:chExt cx="975360" cy="97536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212080" y="4009777"/>
            <a:ext cx="12252960" cy="1133856"/>
            <a:chOff x="0" y="0"/>
            <a:chExt cx="16337280" cy="15118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337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564" r="0" b="-16056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63372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Nginx — Reverse Proxy + TLS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8640" y="5472817"/>
            <a:ext cx="17190720" cy="1499616"/>
            <a:chOff x="0" y="0"/>
            <a:chExt cx="22920960" cy="19994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92095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2920959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2725887" y="0"/>
                  </a:lnTo>
                  <a:cubicBezTo>
                    <a:pt x="22833583" y="0"/>
                    <a:pt x="22920959" y="87376"/>
                    <a:pt x="22920959" y="195072"/>
                  </a:cubicBezTo>
                  <a:lnTo>
                    <a:pt x="22920959" y="1804416"/>
                  </a:lnTo>
                  <a:cubicBezTo>
                    <a:pt x="22920959" y="1912112"/>
                    <a:pt x="22833583" y="1999488"/>
                    <a:pt x="22725887" y="1999488"/>
                  </a:cubicBezTo>
                  <a:lnTo>
                    <a:pt x="195072" y="1999488"/>
                  </a:lnTo>
                  <a:cubicBezTo>
                    <a:pt x="87376" y="1999488"/>
                    <a:pt x="0" y="1912112"/>
                    <a:pt x="0" y="1804416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48640" y="5472817"/>
            <a:ext cx="3474720" cy="1499616"/>
            <a:chOff x="0" y="0"/>
            <a:chExt cx="4632960" cy="19994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48640" y="5472817"/>
            <a:ext cx="3474720" cy="1499616"/>
            <a:chOff x="0" y="0"/>
            <a:chExt cx="4632960" cy="19994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73" t="0" r="-537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63296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CAPA DE NEGOCIO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297680" y="5838577"/>
            <a:ext cx="731520" cy="731520"/>
            <a:chOff x="0" y="0"/>
            <a:chExt cx="975360" cy="97536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212080" y="5655697"/>
            <a:ext cx="12252960" cy="1133856"/>
            <a:chOff x="0" y="0"/>
            <a:chExt cx="16337280" cy="15118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337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564" r="0" b="-16056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63372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Serv. Autenticación · Serv. Tickets · Serv. Notificaciones · Serv. KB · Motor Asignación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48640" y="7118737"/>
            <a:ext cx="17190720" cy="1499616"/>
            <a:chOff x="0" y="0"/>
            <a:chExt cx="22920960" cy="19994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92095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2920959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2725887" y="0"/>
                  </a:lnTo>
                  <a:cubicBezTo>
                    <a:pt x="22833583" y="0"/>
                    <a:pt x="22920959" y="87376"/>
                    <a:pt x="22920959" y="195072"/>
                  </a:cubicBezTo>
                  <a:lnTo>
                    <a:pt x="22920959" y="1804416"/>
                  </a:lnTo>
                  <a:cubicBezTo>
                    <a:pt x="22920959" y="1912112"/>
                    <a:pt x="22833583" y="1999488"/>
                    <a:pt x="22725887" y="1999488"/>
                  </a:cubicBezTo>
                  <a:lnTo>
                    <a:pt x="195072" y="1999488"/>
                  </a:lnTo>
                  <a:cubicBezTo>
                    <a:pt x="87376" y="1999488"/>
                    <a:pt x="0" y="1912112"/>
                    <a:pt x="0" y="1804416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48640" y="7118737"/>
            <a:ext cx="3474720" cy="1499616"/>
            <a:chOff x="0" y="0"/>
            <a:chExt cx="4632960" cy="19994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9B59B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48640" y="7118737"/>
            <a:ext cx="3474720" cy="1499616"/>
            <a:chOff x="0" y="0"/>
            <a:chExt cx="4632960" cy="19994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73" t="0" r="-537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63296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CAPA DE DATOS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297680" y="7484497"/>
            <a:ext cx="731520" cy="731520"/>
            <a:chOff x="0" y="0"/>
            <a:chExt cx="975360" cy="97536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212080" y="7301617"/>
            <a:ext cx="12252960" cy="1133856"/>
            <a:chOff x="0" y="0"/>
            <a:chExt cx="16337280" cy="15118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337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564" r="0" b="-16056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63372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PostgreSQL + Triggers Auditoría + pg_dump Backups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48640" y="8656287"/>
            <a:ext cx="17190720" cy="731520"/>
            <a:chOff x="0" y="0"/>
            <a:chExt cx="2292096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2292096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STACK TECNOLÓGICO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48640" y="9199378"/>
            <a:ext cx="2011680" cy="658368"/>
            <a:chOff x="0" y="0"/>
            <a:chExt cx="2682240" cy="8778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82240" cy="877824"/>
            </a:xfrm>
            <a:custGeom>
              <a:avLst/>
              <a:gdLst/>
              <a:ahLst/>
              <a:cxnLst/>
              <a:rect r="r" b="b" t="t" l="l"/>
              <a:pathLst>
                <a:path h="87782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7" r="0" b="-953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6822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4A9F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Backend: 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558415" y="9199378"/>
            <a:ext cx="3657600" cy="658368"/>
            <a:chOff x="0" y="0"/>
            <a:chExt cx="4876800" cy="8778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876800" cy="877824"/>
            </a:xfrm>
            <a:custGeom>
              <a:avLst/>
              <a:gdLst/>
              <a:ahLst/>
              <a:cxnLst/>
              <a:rect r="r" b="b" t="t" l="l"/>
              <a:pathLst>
                <a:path h="87782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48768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Node.js + Multer + Nodemailer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398895" y="9199378"/>
            <a:ext cx="2011680" cy="658368"/>
            <a:chOff x="0" y="0"/>
            <a:chExt cx="2682240" cy="8778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682240" cy="877824"/>
            </a:xfrm>
            <a:custGeom>
              <a:avLst/>
              <a:gdLst/>
              <a:ahLst/>
              <a:cxnLst/>
              <a:rect r="r" b="b" t="t" l="l"/>
              <a:pathLst>
                <a:path h="87782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7" r="0" b="-953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6822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B59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de Datos: 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410575" y="9199378"/>
            <a:ext cx="3657600" cy="658368"/>
            <a:chOff x="0" y="0"/>
            <a:chExt cx="4876800" cy="87782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76800" cy="877824"/>
            </a:xfrm>
            <a:custGeom>
              <a:avLst/>
              <a:gdLst/>
              <a:ahLst/>
              <a:cxnLst/>
              <a:rect r="r" b="b" t="t" l="l"/>
              <a:pathLst>
                <a:path h="87782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8768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</a:t>
              </a: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+ Triggers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252960" y="9068131"/>
            <a:ext cx="2011680" cy="658368"/>
            <a:chOff x="0" y="0"/>
            <a:chExt cx="2682240" cy="8778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682240" cy="877824"/>
            </a:xfrm>
            <a:custGeom>
              <a:avLst/>
              <a:gdLst/>
              <a:ahLst/>
              <a:cxnLst/>
              <a:rect r="r" b="b" t="t" l="l"/>
              <a:pathLst>
                <a:path h="87782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7" r="0" b="-953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26822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Frontend: 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264640" y="9068131"/>
            <a:ext cx="3657600" cy="658368"/>
            <a:chOff x="0" y="0"/>
            <a:chExt cx="4876800" cy="8778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76800" cy="877824"/>
            </a:xfrm>
            <a:custGeom>
              <a:avLst/>
              <a:gdLst/>
              <a:ahLst/>
              <a:cxnLst/>
              <a:rect r="r" b="b" t="t" l="l"/>
              <a:pathLst>
                <a:path h="87782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8768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Alpine.js + HTML5 + CSS3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252960" y="9656064"/>
            <a:ext cx="2011680" cy="658368"/>
            <a:chOff x="0" y="0"/>
            <a:chExt cx="2682240" cy="87782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682240" cy="877824"/>
            </a:xfrm>
            <a:custGeom>
              <a:avLst/>
              <a:gdLst/>
              <a:ahLst/>
              <a:cxnLst/>
              <a:rect r="r" b="b" t="t" l="l"/>
              <a:pathLst>
                <a:path h="87782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7" r="0" b="-953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26822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A94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Modelado: 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264640" y="9656064"/>
            <a:ext cx="3657600" cy="658368"/>
            <a:chOff x="0" y="0"/>
            <a:chExt cx="4876800" cy="87782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76800" cy="877824"/>
            </a:xfrm>
            <a:custGeom>
              <a:avLst/>
              <a:gdLst/>
              <a:ahLst/>
              <a:cxnLst/>
              <a:rect r="r" b="b" t="t" l="l"/>
              <a:pathLst>
                <a:path h="87782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48768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Bizagi BPMN + draw.io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8288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21945600" cy="1474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CASOS DE USO IMPLEMENTADOS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188720"/>
            <a:ext cx="16459200" cy="603504"/>
            <a:chOff x="0" y="0"/>
            <a:chExt cx="21945600" cy="80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0" b="-4814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A94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 Casos de Uso en formato OMT extendido | Actores: Admin, Técnico, Solicitante, Sistema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5760" y="1920240"/>
            <a:ext cx="4206240" cy="1024128"/>
            <a:chOff x="0" y="0"/>
            <a:chExt cx="5608320" cy="1365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93776" y="2066544"/>
            <a:ext cx="658368" cy="658368"/>
            <a:chOff x="0" y="0"/>
            <a:chExt cx="877824" cy="877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4A9FD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2176272"/>
            <a:ext cx="402336" cy="402336"/>
            <a:chOff x="0" y="0"/>
            <a:chExt cx="536448" cy="53644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1974342"/>
            <a:ext cx="3200400" cy="438912"/>
            <a:chOff x="0" y="0"/>
            <a:chExt cx="426720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A9F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0160" y="2325658"/>
            <a:ext cx="3200400" cy="622139"/>
            <a:chOff x="0" y="0"/>
            <a:chExt cx="4267200" cy="8295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</a:t>
              </a: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egistrando usuarios en la plataforma.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54880" y="1920240"/>
            <a:ext cx="4206240" cy="1024128"/>
            <a:chOff x="0" y="0"/>
            <a:chExt cx="5608320" cy="13655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882896" y="2066544"/>
            <a:ext cx="658368" cy="658368"/>
            <a:chOff x="0" y="0"/>
            <a:chExt cx="877824" cy="8778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4A9FD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992624" y="2176272"/>
            <a:ext cx="402336" cy="402336"/>
            <a:chOff x="0" y="0"/>
            <a:chExt cx="536448" cy="536448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669280" y="1993392"/>
            <a:ext cx="3200400" cy="438912"/>
            <a:chOff x="0" y="0"/>
            <a:chExt cx="4267200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A9F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669280" y="2395728"/>
            <a:ext cx="3200400" cy="457200"/>
            <a:chOff x="0" y="0"/>
            <a:chExt cx="4267200" cy="60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6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26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Editando Perfil.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0" y="1920240"/>
            <a:ext cx="4206240" cy="1024128"/>
            <a:chOff x="0" y="0"/>
            <a:chExt cx="5608320" cy="13655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272016" y="2066544"/>
            <a:ext cx="658368" cy="658368"/>
            <a:chOff x="0" y="0"/>
            <a:chExt cx="877824" cy="8778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381744" y="2176272"/>
            <a:ext cx="402336" cy="402336"/>
            <a:chOff x="0" y="0"/>
            <a:chExt cx="536448" cy="536448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058400" y="1974342"/>
            <a:ext cx="3200400" cy="438912"/>
            <a:chOff x="0" y="0"/>
            <a:chExt cx="4267200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058400" y="2377440"/>
            <a:ext cx="3200400" cy="622139"/>
            <a:chOff x="0" y="0"/>
            <a:chExt cx="4267200" cy="82951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Controlando el acceso basado en roles.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33120" y="1920240"/>
            <a:ext cx="4206240" cy="1024128"/>
            <a:chOff x="0" y="0"/>
            <a:chExt cx="5608320" cy="136550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661136" y="2066544"/>
            <a:ext cx="658368" cy="658368"/>
            <a:chOff x="0" y="0"/>
            <a:chExt cx="877824" cy="8778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5C542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770864" y="2176272"/>
            <a:ext cx="402336" cy="402336"/>
            <a:chOff x="0" y="0"/>
            <a:chExt cx="536448" cy="536448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447520" y="1974342"/>
            <a:ext cx="3200400" cy="438912"/>
            <a:chOff x="0" y="0"/>
            <a:chExt cx="426720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5C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CU-08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447520" y="2377440"/>
            <a:ext cx="3200400" cy="622139"/>
            <a:chOff x="0" y="0"/>
            <a:chExt cx="4267200" cy="82951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Creando tickets mediante el f</a:t>
              </a: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ormulario central.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65760" y="3090672"/>
            <a:ext cx="4206240" cy="1024128"/>
            <a:chOff x="0" y="0"/>
            <a:chExt cx="5608320" cy="136550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93776" y="3236976"/>
            <a:ext cx="658368" cy="658368"/>
            <a:chOff x="0" y="0"/>
            <a:chExt cx="877824" cy="87782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5C54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03504" y="3346704"/>
            <a:ext cx="402336" cy="402336"/>
            <a:chOff x="0" y="0"/>
            <a:chExt cx="536448" cy="536448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80160" y="3144774"/>
            <a:ext cx="3200400" cy="438912"/>
            <a:chOff x="0" y="0"/>
            <a:chExt cx="4267200" cy="58521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5C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CU-09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80160" y="3547872"/>
            <a:ext cx="3200400" cy="622139"/>
            <a:chOff x="0" y="0"/>
            <a:chExt cx="4267200" cy="82951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Gestionando adjuntos y evidencia digital. 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754880" y="3090672"/>
            <a:ext cx="4206240" cy="1024128"/>
            <a:chOff x="0" y="0"/>
            <a:chExt cx="5608320" cy="13655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4882896" y="3236976"/>
            <a:ext cx="658368" cy="658368"/>
            <a:chOff x="0" y="0"/>
            <a:chExt cx="877824" cy="8778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4992624" y="3346704"/>
            <a:ext cx="402336" cy="402336"/>
            <a:chOff x="0" y="0"/>
            <a:chExt cx="536448" cy="536448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5669280" y="3144774"/>
            <a:ext cx="3200400" cy="438912"/>
            <a:chOff x="0" y="0"/>
            <a:chExt cx="4267200" cy="5852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CU-11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669280" y="3547872"/>
            <a:ext cx="3200400" cy="622139"/>
            <a:chOff x="0" y="0"/>
            <a:chExt cx="4267200" cy="82951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Despachando n</a:t>
              </a: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otificaciones automáticas. 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144000" y="3090672"/>
            <a:ext cx="4206240" cy="1024128"/>
            <a:chOff x="0" y="0"/>
            <a:chExt cx="5608320" cy="136550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272016" y="3236976"/>
            <a:ext cx="658368" cy="658368"/>
            <a:chOff x="0" y="0"/>
            <a:chExt cx="877824" cy="8778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4A9FD5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381744" y="3346704"/>
            <a:ext cx="402336" cy="402336"/>
            <a:chOff x="0" y="0"/>
            <a:chExt cx="536448" cy="536448"/>
          </a:xfrm>
        </p:grpSpPr>
        <p:sp>
          <p:nvSpPr>
            <p:cNvPr name="Freeform 85" id="85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058400" y="3144774"/>
            <a:ext cx="3200400" cy="438912"/>
            <a:chOff x="0" y="0"/>
            <a:chExt cx="4267200" cy="58521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A9F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CU-15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058400" y="3547872"/>
            <a:ext cx="3200400" cy="622139"/>
            <a:chOff x="0" y="0"/>
            <a:chExt cx="4267200" cy="82951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</a:t>
              </a: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isualizando estructuradamente las solicitudes.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533120" y="3090672"/>
            <a:ext cx="4206240" cy="1024128"/>
            <a:chOff x="0" y="0"/>
            <a:chExt cx="5608320" cy="136550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3661136" y="3236976"/>
            <a:ext cx="658368" cy="658368"/>
            <a:chOff x="0" y="0"/>
            <a:chExt cx="877824" cy="87782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3770864" y="3346704"/>
            <a:ext cx="402336" cy="402336"/>
            <a:chOff x="0" y="0"/>
            <a:chExt cx="536448" cy="536448"/>
          </a:xfrm>
        </p:grpSpPr>
        <p:sp>
          <p:nvSpPr>
            <p:cNvPr name="Freeform 97" id="97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4447520" y="3144774"/>
            <a:ext cx="3200400" cy="438912"/>
            <a:chOff x="0" y="0"/>
            <a:chExt cx="4267200" cy="58521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CU-16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4447520" y="3547872"/>
            <a:ext cx="3200400" cy="622139"/>
            <a:chOff x="0" y="0"/>
            <a:chExt cx="4267200" cy="82951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Comunicando asíncronamente en los tickets. 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365760" y="4261104"/>
            <a:ext cx="4206240" cy="1024128"/>
            <a:chOff x="0" y="0"/>
            <a:chExt cx="5608320" cy="136550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493776" y="4407408"/>
            <a:ext cx="658368" cy="658368"/>
            <a:chOff x="0" y="0"/>
            <a:chExt cx="877824" cy="87782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5C542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603504" y="4517136"/>
            <a:ext cx="402336" cy="402336"/>
            <a:chOff x="0" y="0"/>
            <a:chExt cx="536448" cy="536448"/>
          </a:xfrm>
        </p:grpSpPr>
        <p:sp>
          <p:nvSpPr>
            <p:cNvPr name="Freeform 109" id="109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80160" y="4312886"/>
            <a:ext cx="3200400" cy="438912"/>
            <a:chOff x="0" y="0"/>
            <a:chExt cx="4267200" cy="58521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5C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CU-19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80160" y="4718304"/>
            <a:ext cx="3200400" cy="622139"/>
            <a:chOff x="0" y="0"/>
            <a:chExt cx="4267200" cy="82951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Registrando transacciones de forma inmutable.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4754880" y="4261104"/>
            <a:ext cx="4206240" cy="1024128"/>
            <a:chOff x="0" y="0"/>
            <a:chExt cx="5608320" cy="136550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82896" y="4407408"/>
            <a:ext cx="658368" cy="658368"/>
            <a:chOff x="0" y="0"/>
            <a:chExt cx="877824" cy="87782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992624" y="4517136"/>
            <a:ext cx="402336" cy="402336"/>
            <a:chOff x="0" y="0"/>
            <a:chExt cx="536448" cy="536448"/>
          </a:xfrm>
        </p:grpSpPr>
        <p:sp>
          <p:nvSpPr>
            <p:cNvPr name="Freeform 121" id="121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669280" y="4312886"/>
            <a:ext cx="3200400" cy="438912"/>
            <a:chOff x="0" y="0"/>
            <a:chExt cx="4267200" cy="58521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CU-20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5669280" y="4718304"/>
            <a:ext cx="3200400" cy="622139"/>
            <a:chOff x="0" y="0"/>
            <a:chExt cx="4267200" cy="82951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Vigilando activamente los tiempos. 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144000" y="4261104"/>
            <a:ext cx="4206240" cy="1024128"/>
            <a:chOff x="0" y="0"/>
            <a:chExt cx="5608320" cy="136550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72016" y="4407408"/>
            <a:ext cx="658368" cy="658368"/>
            <a:chOff x="0" y="0"/>
            <a:chExt cx="877824" cy="87782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4A9FD5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381744" y="4517136"/>
            <a:ext cx="402336" cy="402336"/>
            <a:chOff x="0" y="0"/>
            <a:chExt cx="536448" cy="536448"/>
          </a:xfrm>
        </p:grpSpPr>
        <p:sp>
          <p:nvSpPr>
            <p:cNvPr name="Freeform 133" id="133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0058400" y="4312886"/>
            <a:ext cx="3200400" cy="438912"/>
            <a:chOff x="0" y="0"/>
            <a:chExt cx="4267200" cy="58521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A9F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CU-26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0058400" y="4736592"/>
            <a:ext cx="3200400" cy="457200"/>
            <a:chOff x="0" y="0"/>
            <a:chExt cx="4267200" cy="6096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26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426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Autogestionando requerimientos.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3533120" y="4261104"/>
            <a:ext cx="4206240" cy="1024128"/>
            <a:chOff x="0" y="0"/>
            <a:chExt cx="5608320" cy="136550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3661136" y="4407408"/>
            <a:ext cx="658368" cy="658368"/>
            <a:chOff x="0" y="0"/>
            <a:chExt cx="877824" cy="877824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3770864" y="4517136"/>
            <a:ext cx="402336" cy="402336"/>
            <a:chOff x="0" y="0"/>
            <a:chExt cx="536448" cy="536448"/>
          </a:xfrm>
        </p:grpSpPr>
        <p:sp>
          <p:nvSpPr>
            <p:cNvPr name="Freeform 145" id="145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4447520" y="4312886"/>
            <a:ext cx="3200400" cy="438912"/>
            <a:chOff x="0" y="0"/>
            <a:chExt cx="4267200" cy="585216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CU-27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4447520" y="4700397"/>
            <a:ext cx="3200400" cy="457200"/>
            <a:chOff x="0" y="0"/>
            <a:chExt cx="4267200" cy="60960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426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426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Evaluando la eficacia técnica.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365760" y="5431536"/>
            <a:ext cx="4206240" cy="1024128"/>
            <a:chOff x="0" y="0"/>
            <a:chExt cx="5608320" cy="1365504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493776" y="5577840"/>
            <a:ext cx="658368" cy="658368"/>
            <a:chOff x="0" y="0"/>
            <a:chExt cx="877824" cy="877824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9B59B6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603504" y="5687568"/>
            <a:ext cx="402336" cy="402336"/>
            <a:chOff x="0" y="0"/>
            <a:chExt cx="536448" cy="536448"/>
          </a:xfrm>
        </p:grpSpPr>
        <p:sp>
          <p:nvSpPr>
            <p:cNvPr name="Freeform 157" id="157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280160" y="5483318"/>
            <a:ext cx="3200400" cy="438912"/>
            <a:chOff x="0" y="0"/>
            <a:chExt cx="4267200" cy="58521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9B59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CU-32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280160" y="5888736"/>
            <a:ext cx="3200400" cy="622139"/>
            <a:chOff x="0" y="0"/>
            <a:chExt cx="4267200" cy="829518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Monitoreando dinámicamente los KPIs. 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4754880" y="5431536"/>
            <a:ext cx="4206240" cy="1024128"/>
            <a:chOff x="0" y="0"/>
            <a:chExt cx="5608320" cy="1365504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4882896" y="5577840"/>
            <a:ext cx="658368" cy="658368"/>
            <a:chOff x="0" y="0"/>
            <a:chExt cx="877824" cy="877824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5C542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4992624" y="5687568"/>
            <a:ext cx="402336" cy="402336"/>
            <a:chOff x="0" y="0"/>
            <a:chExt cx="536448" cy="536448"/>
          </a:xfrm>
        </p:grpSpPr>
        <p:sp>
          <p:nvSpPr>
            <p:cNvPr name="Freeform 169" id="169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5669280" y="5483318"/>
            <a:ext cx="3200400" cy="438912"/>
            <a:chOff x="0" y="0"/>
            <a:chExt cx="4267200" cy="58521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5C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CU-34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5669280" y="5873843"/>
            <a:ext cx="3200400" cy="622139"/>
            <a:chOff x="0" y="0"/>
            <a:chExt cx="4267200" cy="829518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Documentando soluciones recurrentes.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9144000" y="5431536"/>
            <a:ext cx="4206240" cy="1024128"/>
            <a:chOff x="0" y="0"/>
            <a:chExt cx="5608320" cy="1365504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9272016" y="5577840"/>
            <a:ext cx="658368" cy="658368"/>
            <a:chOff x="0" y="0"/>
            <a:chExt cx="877824" cy="877824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4A9FD5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9381744" y="5687568"/>
            <a:ext cx="402336" cy="402336"/>
            <a:chOff x="0" y="0"/>
            <a:chExt cx="536448" cy="536448"/>
          </a:xfrm>
        </p:grpSpPr>
        <p:sp>
          <p:nvSpPr>
            <p:cNvPr name="Freeform 181" id="181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10058400" y="5504688"/>
            <a:ext cx="3200400" cy="438912"/>
            <a:chOff x="0" y="0"/>
            <a:chExt cx="4267200" cy="585216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A9F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CU-35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0058400" y="5888736"/>
            <a:ext cx="3200400" cy="622139"/>
            <a:chOff x="0" y="0"/>
            <a:chExt cx="4267200" cy="82951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Autoasistiendo durante la creación de tickets.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3533120" y="5431536"/>
            <a:ext cx="4206240" cy="1024128"/>
            <a:chOff x="0" y="0"/>
            <a:chExt cx="5608320" cy="1365504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13661136" y="5577840"/>
            <a:ext cx="658368" cy="658368"/>
            <a:chOff x="0" y="0"/>
            <a:chExt cx="877824" cy="877824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13770864" y="5687568"/>
            <a:ext cx="402336" cy="402336"/>
            <a:chOff x="0" y="0"/>
            <a:chExt cx="536448" cy="536448"/>
          </a:xfrm>
        </p:grpSpPr>
        <p:sp>
          <p:nvSpPr>
            <p:cNvPr name="Freeform 193" id="193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4466570" y="5485257"/>
            <a:ext cx="3200400" cy="438912"/>
            <a:chOff x="0" y="0"/>
            <a:chExt cx="4267200" cy="585216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CU-36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4447520" y="5888736"/>
            <a:ext cx="3200400" cy="622139"/>
            <a:chOff x="0" y="0"/>
            <a:chExt cx="4267200" cy="82951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</a:t>
              </a: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 el respaldo físico del ticket. 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365760" y="6601968"/>
            <a:ext cx="4206240" cy="1024128"/>
            <a:chOff x="0" y="0"/>
            <a:chExt cx="5608320" cy="1365504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202" id="202"/>
          <p:cNvGrpSpPr/>
          <p:nvPr/>
        </p:nvGrpSpPr>
        <p:grpSpPr>
          <a:xfrm rot="0">
            <a:off x="493776" y="6748272"/>
            <a:ext cx="658368" cy="658368"/>
            <a:chOff x="0" y="0"/>
            <a:chExt cx="877824" cy="877824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5C542"/>
            </a:solidFill>
          </p:spPr>
        </p:sp>
      </p:grpSp>
      <p:grpSp>
        <p:nvGrpSpPr>
          <p:cNvPr name="Group 204" id="204"/>
          <p:cNvGrpSpPr/>
          <p:nvPr/>
        </p:nvGrpSpPr>
        <p:grpSpPr>
          <a:xfrm rot="0">
            <a:off x="603504" y="6858000"/>
            <a:ext cx="402336" cy="402336"/>
            <a:chOff x="0" y="0"/>
            <a:chExt cx="536448" cy="536448"/>
          </a:xfrm>
        </p:grpSpPr>
        <p:sp>
          <p:nvSpPr>
            <p:cNvPr name="Freeform 205" id="205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280160" y="6653750"/>
            <a:ext cx="3200400" cy="438912"/>
            <a:chOff x="0" y="0"/>
            <a:chExt cx="4267200" cy="585216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5C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CU-38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1280160" y="7059168"/>
            <a:ext cx="3200400" cy="622139"/>
            <a:chOff x="0" y="0"/>
            <a:chExt cx="4267200" cy="82951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Renovando credenciales de acceso. 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4754880" y="6601968"/>
            <a:ext cx="4206240" cy="1024128"/>
            <a:chOff x="0" y="0"/>
            <a:chExt cx="5608320" cy="1365504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214" id="214"/>
          <p:cNvGrpSpPr/>
          <p:nvPr/>
        </p:nvGrpSpPr>
        <p:grpSpPr>
          <a:xfrm rot="0">
            <a:off x="4882896" y="6748272"/>
            <a:ext cx="658368" cy="658368"/>
            <a:chOff x="0" y="0"/>
            <a:chExt cx="877824" cy="877824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4992624" y="6858000"/>
            <a:ext cx="402336" cy="402336"/>
            <a:chOff x="0" y="0"/>
            <a:chExt cx="536448" cy="536448"/>
          </a:xfrm>
        </p:grpSpPr>
        <p:sp>
          <p:nvSpPr>
            <p:cNvPr name="Freeform 217" id="217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5669280" y="6638544"/>
            <a:ext cx="3200400" cy="438912"/>
            <a:chOff x="0" y="0"/>
            <a:chExt cx="4267200" cy="585216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CU-39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5669280" y="7059168"/>
            <a:ext cx="3200400" cy="622139"/>
            <a:chOff x="0" y="0"/>
            <a:chExt cx="4267200" cy="829518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Restableciendo la clave por olvido. 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9144000" y="6601968"/>
            <a:ext cx="4206240" cy="1024128"/>
            <a:chOff x="0" y="0"/>
            <a:chExt cx="5608320" cy="1365504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226" id="226"/>
          <p:cNvGrpSpPr/>
          <p:nvPr/>
        </p:nvGrpSpPr>
        <p:grpSpPr>
          <a:xfrm rot="0">
            <a:off x="9272016" y="6748272"/>
            <a:ext cx="658368" cy="658368"/>
            <a:chOff x="0" y="0"/>
            <a:chExt cx="877824" cy="877824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228" id="228"/>
          <p:cNvGrpSpPr/>
          <p:nvPr/>
        </p:nvGrpSpPr>
        <p:grpSpPr>
          <a:xfrm rot="0">
            <a:off x="9381744" y="6858000"/>
            <a:ext cx="402336" cy="402336"/>
            <a:chOff x="0" y="0"/>
            <a:chExt cx="536448" cy="536448"/>
          </a:xfrm>
        </p:grpSpPr>
        <p:sp>
          <p:nvSpPr>
            <p:cNvPr name="Freeform 229" id="229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10058400" y="6653750"/>
            <a:ext cx="3200400" cy="438912"/>
            <a:chOff x="0" y="0"/>
            <a:chExt cx="4267200" cy="585216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CU-42</a:t>
              </a:r>
            </a:p>
          </p:txBody>
        </p:sp>
      </p:grpSp>
      <p:grpSp>
        <p:nvGrpSpPr>
          <p:cNvPr name="Group 233" id="233"/>
          <p:cNvGrpSpPr/>
          <p:nvPr/>
        </p:nvGrpSpPr>
        <p:grpSpPr>
          <a:xfrm rot="0">
            <a:off x="10058400" y="6968317"/>
            <a:ext cx="3200400" cy="622139"/>
            <a:chOff x="0" y="0"/>
            <a:chExt cx="4267200" cy="829518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Gestionando la seguridad de acceso concurrente. 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13533120" y="6601968"/>
            <a:ext cx="4206240" cy="1024128"/>
            <a:chOff x="0" y="0"/>
            <a:chExt cx="5608320" cy="1365504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238" id="238"/>
          <p:cNvGrpSpPr/>
          <p:nvPr/>
        </p:nvGrpSpPr>
        <p:grpSpPr>
          <a:xfrm rot="0">
            <a:off x="13661136" y="6748272"/>
            <a:ext cx="658368" cy="658368"/>
            <a:chOff x="0" y="0"/>
            <a:chExt cx="877824" cy="877824"/>
          </a:xfrm>
        </p:grpSpPr>
        <p:sp>
          <p:nvSpPr>
            <p:cNvPr name="Freeform 239" id="23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4A9FD5"/>
            </a:solidFill>
          </p:spPr>
        </p:sp>
      </p:grpSp>
      <p:grpSp>
        <p:nvGrpSpPr>
          <p:cNvPr name="Group 240" id="240"/>
          <p:cNvGrpSpPr/>
          <p:nvPr/>
        </p:nvGrpSpPr>
        <p:grpSpPr>
          <a:xfrm rot="0">
            <a:off x="13770864" y="6858000"/>
            <a:ext cx="402336" cy="402336"/>
            <a:chOff x="0" y="0"/>
            <a:chExt cx="536448" cy="536448"/>
          </a:xfrm>
        </p:grpSpPr>
        <p:sp>
          <p:nvSpPr>
            <p:cNvPr name="Freeform 241" id="241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42" id="242"/>
          <p:cNvGrpSpPr/>
          <p:nvPr/>
        </p:nvGrpSpPr>
        <p:grpSpPr>
          <a:xfrm rot="0">
            <a:off x="14447520" y="6665595"/>
            <a:ext cx="3200400" cy="438912"/>
            <a:chOff x="0" y="0"/>
            <a:chExt cx="4267200" cy="58521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A9F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CU-44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14447520" y="7003957"/>
            <a:ext cx="3200400" cy="622139"/>
            <a:chOff x="0" y="0"/>
            <a:chExt cx="4267200" cy="829518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247" id="247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Gestionando el centro de notificaciones in-app. </a:t>
              </a:r>
            </a:p>
          </p:txBody>
        </p:sp>
      </p:grpSp>
      <p:grpSp>
        <p:nvGrpSpPr>
          <p:cNvPr name="Group 248" id="248"/>
          <p:cNvGrpSpPr/>
          <p:nvPr/>
        </p:nvGrpSpPr>
        <p:grpSpPr>
          <a:xfrm rot="0">
            <a:off x="365760" y="7772400"/>
            <a:ext cx="4206240" cy="1024128"/>
            <a:chOff x="0" y="0"/>
            <a:chExt cx="5608320" cy="1365504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250" id="250"/>
          <p:cNvGrpSpPr/>
          <p:nvPr/>
        </p:nvGrpSpPr>
        <p:grpSpPr>
          <a:xfrm rot="0">
            <a:off x="493776" y="7918704"/>
            <a:ext cx="658368" cy="658368"/>
            <a:chOff x="0" y="0"/>
            <a:chExt cx="877824" cy="877824"/>
          </a:xfrm>
        </p:grpSpPr>
        <p:sp>
          <p:nvSpPr>
            <p:cNvPr name="Freeform 251" id="25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9B59B6"/>
            </a:solidFill>
          </p:spPr>
        </p:sp>
      </p:grpSp>
      <p:grpSp>
        <p:nvGrpSpPr>
          <p:cNvPr name="Group 252" id="252"/>
          <p:cNvGrpSpPr/>
          <p:nvPr/>
        </p:nvGrpSpPr>
        <p:grpSpPr>
          <a:xfrm rot="0">
            <a:off x="603504" y="8028432"/>
            <a:ext cx="402336" cy="402336"/>
            <a:chOff x="0" y="0"/>
            <a:chExt cx="536448" cy="536448"/>
          </a:xfrm>
        </p:grpSpPr>
        <p:sp>
          <p:nvSpPr>
            <p:cNvPr name="Freeform 253" id="253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254" id="254"/>
          <p:cNvGrpSpPr/>
          <p:nvPr/>
        </p:nvGrpSpPr>
        <p:grpSpPr>
          <a:xfrm rot="0">
            <a:off x="1280160" y="7824182"/>
            <a:ext cx="3200400" cy="438912"/>
            <a:chOff x="0" y="0"/>
            <a:chExt cx="4267200" cy="585216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256" id="256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9B59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CU-51</a:t>
              </a:r>
            </a:p>
          </p:txBody>
        </p:sp>
      </p:grpSp>
      <p:grpSp>
        <p:nvGrpSpPr>
          <p:cNvPr name="Group 257" id="257"/>
          <p:cNvGrpSpPr/>
          <p:nvPr/>
        </p:nvGrpSpPr>
        <p:grpSpPr>
          <a:xfrm rot="0">
            <a:off x="1280160" y="8205182"/>
            <a:ext cx="3200400" cy="622139"/>
            <a:chOff x="0" y="0"/>
            <a:chExt cx="4267200" cy="829518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259" id="259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Reforzando la seguridad en el inicio de sesión.</a:t>
              </a:r>
            </a:p>
          </p:txBody>
        </p:sp>
      </p:grpSp>
      <p:grpSp>
        <p:nvGrpSpPr>
          <p:cNvPr name="Group 260" id="260"/>
          <p:cNvGrpSpPr/>
          <p:nvPr/>
        </p:nvGrpSpPr>
        <p:grpSpPr>
          <a:xfrm rot="0">
            <a:off x="4754880" y="7772400"/>
            <a:ext cx="4206240" cy="1024128"/>
            <a:chOff x="0" y="0"/>
            <a:chExt cx="5608320" cy="1365504"/>
          </a:xfrm>
        </p:grpSpPr>
        <p:sp>
          <p:nvSpPr>
            <p:cNvPr name="Freeform 261" id="261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413248" y="0"/>
                  </a:lnTo>
                  <a:cubicBezTo>
                    <a:pt x="5520944" y="0"/>
                    <a:pt x="5608320" y="87376"/>
                    <a:pt x="5608320" y="195072"/>
                  </a:cubicBezTo>
                  <a:lnTo>
                    <a:pt x="5608320" y="1170432"/>
                  </a:lnTo>
                  <a:cubicBezTo>
                    <a:pt x="5608320" y="1278128"/>
                    <a:pt x="5520944" y="1365504"/>
                    <a:pt x="5413248" y="1365504"/>
                  </a:cubicBezTo>
                  <a:lnTo>
                    <a:pt x="195072" y="1365504"/>
                  </a:lnTo>
                  <a:cubicBezTo>
                    <a:pt x="87376" y="1365504"/>
                    <a:pt x="0" y="1278128"/>
                    <a:pt x="0" y="1170432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4882896" y="7918704"/>
            <a:ext cx="658368" cy="658368"/>
            <a:chOff x="0" y="0"/>
            <a:chExt cx="877824" cy="877824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264" id="264"/>
          <p:cNvGrpSpPr/>
          <p:nvPr/>
        </p:nvGrpSpPr>
        <p:grpSpPr>
          <a:xfrm rot="0">
            <a:off x="4992624" y="8028432"/>
            <a:ext cx="402336" cy="402336"/>
            <a:chOff x="0" y="0"/>
            <a:chExt cx="536448" cy="536448"/>
          </a:xfrm>
        </p:grpSpPr>
        <p:sp>
          <p:nvSpPr>
            <p:cNvPr name="Freeform 265" id="265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66" id="266"/>
          <p:cNvGrpSpPr/>
          <p:nvPr/>
        </p:nvGrpSpPr>
        <p:grpSpPr>
          <a:xfrm rot="0">
            <a:off x="5669280" y="7795607"/>
            <a:ext cx="3200400" cy="438912"/>
            <a:chOff x="0" y="0"/>
            <a:chExt cx="4267200" cy="585216"/>
          </a:xfrm>
        </p:grpSpPr>
        <p:sp>
          <p:nvSpPr>
            <p:cNvPr name="Freeform 267" id="267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268" id="268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CU-66</a:t>
              </a:r>
            </a:p>
          </p:txBody>
        </p:sp>
      </p:grpSp>
      <p:grpSp>
        <p:nvGrpSpPr>
          <p:cNvPr name="Group 269" id="269"/>
          <p:cNvGrpSpPr/>
          <p:nvPr/>
        </p:nvGrpSpPr>
        <p:grpSpPr>
          <a:xfrm rot="0">
            <a:off x="5669280" y="8119699"/>
            <a:ext cx="3200400" cy="622139"/>
            <a:chOff x="0" y="0"/>
            <a:chExt cx="4267200" cy="829518"/>
          </a:xfrm>
        </p:grpSpPr>
        <p:sp>
          <p:nvSpPr>
            <p:cNvPr name="Freeform 270" id="270"/>
            <p:cNvSpPr/>
            <p:nvPr/>
          </p:nvSpPr>
          <p:spPr>
            <a:xfrm flipH="false" flipV="false" rot="0">
              <a:off x="0" y="0"/>
              <a:ext cx="4267200" cy="829518"/>
            </a:xfrm>
            <a:custGeom>
              <a:avLst/>
              <a:gdLst/>
              <a:ahLst/>
              <a:cxnLst/>
              <a:rect r="r" b="b" t="t" l="l"/>
              <a:pathLst>
                <a:path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90" r="0" b="-36978"/>
              </a:stretch>
            </a:blipFill>
          </p:spPr>
        </p:sp>
        <p:sp>
          <p:nvSpPr>
            <p:cNvPr name="TextBox 271" id="271"/>
            <p:cNvSpPr txBox="true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Verificando la identidad chilena mediante el motor. 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74320"/>
            <a:ext cx="16459200" cy="1188720"/>
            <a:chOff x="0" y="0"/>
            <a:chExt cx="2194560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71450"/>
              <a:ext cx="2194560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0080" y="1737360"/>
            <a:ext cx="17007840" cy="1499616"/>
            <a:chOff x="0" y="0"/>
            <a:chExt cx="22677120" cy="19994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26771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22433280" y="0"/>
                  </a:lnTo>
                  <a:cubicBezTo>
                    <a:pt x="22567900" y="0"/>
                    <a:pt x="22677120" y="109220"/>
                    <a:pt x="22677120" y="243840"/>
                  </a:cubicBezTo>
                  <a:lnTo>
                    <a:pt x="22677120" y="1755648"/>
                  </a:lnTo>
                  <a:cubicBezTo>
                    <a:pt x="22677120" y="1890268"/>
                    <a:pt x="22567900" y="1999488"/>
                    <a:pt x="22433280" y="1999488"/>
                  </a:cubicBezTo>
                  <a:lnTo>
                    <a:pt x="243840" y="1999488"/>
                  </a:lnTo>
                  <a:cubicBezTo>
                    <a:pt x="109220" y="1999488"/>
                    <a:pt x="0" y="1890268"/>
                    <a:pt x="0" y="1755648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956816"/>
            <a:ext cx="804672" cy="804672"/>
            <a:chOff x="0" y="0"/>
            <a:chExt cx="1072896" cy="10728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60704" y="2103120"/>
            <a:ext cx="512064" cy="512064"/>
            <a:chOff x="0" y="0"/>
            <a:chExt cx="682752" cy="68275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011680" y="1792224"/>
            <a:ext cx="5120640" cy="731520"/>
            <a:chOff x="0" y="0"/>
            <a:chExt cx="682752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827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MVP entregado al 31,4%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11680" y="2487168"/>
            <a:ext cx="15361920" cy="640080"/>
            <a:chOff x="0" y="0"/>
            <a:chExt cx="2048256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482561" cy="853440"/>
            </a:xfrm>
            <a:custGeom>
              <a:avLst/>
              <a:gdLst/>
              <a:ahLst/>
              <a:cxnLst/>
              <a:rect r="r" b="b" t="t" l="l"/>
              <a:pathLst>
                <a:path h="8534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482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 casos de uso funcionales con autenticación segura, gestión de tickets y dashboard de KPIs.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0080" y="3383280"/>
            <a:ext cx="17007840" cy="1499616"/>
            <a:chOff x="0" y="0"/>
            <a:chExt cx="22677120" cy="19994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6771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26771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22433280" y="0"/>
                  </a:lnTo>
                  <a:cubicBezTo>
                    <a:pt x="22567900" y="0"/>
                    <a:pt x="22677120" y="109220"/>
                    <a:pt x="22677120" y="243840"/>
                  </a:cubicBezTo>
                  <a:lnTo>
                    <a:pt x="22677120" y="1755648"/>
                  </a:lnTo>
                  <a:cubicBezTo>
                    <a:pt x="22677120" y="1890268"/>
                    <a:pt x="22567900" y="1999488"/>
                    <a:pt x="22433280" y="1999488"/>
                  </a:cubicBezTo>
                  <a:lnTo>
                    <a:pt x="243840" y="1999488"/>
                  </a:lnTo>
                  <a:cubicBezTo>
                    <a:pt x="109220" y="1999488"/>
                    <a:pt x="0" y="1890268"/>
                    <a:pt x="0" y="1755648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3602736"/>
            <a:ext cx="804672" cy="804672"/>
            <a:chOff x="0" y="0"/>
            <a:chExt cx="1072896" cy="10728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4A9FD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60704" y="3749040"/>
            <a:ext cx="512064" cy="512064"/>
            <a:chOff x="0" y="0"/>
            <a:chExt cx="682752" cy="682752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011680" y="3438144"/>
            <a:ext cx="5120640" cy="731520"/>
            <a:chOff x="0" y="0"/>
            <a:chExt cx="682752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827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4A9F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Valor inmediato para la clínica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011680" y="4133088"/>
            <a:ext cx="15361920" cy="640080"/>
            <a:chOff x="0" y="0"/>
            <a:chExt cx="2048256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482561" cy="853440"/>
            </a:xfrm>
            <a:custGeom>
              <a:avLst/>
              <a:gdLst/>
              <a:ahLst/>
              <a:cxnLst/>
              <a:rect r="r" b="b" t="t" l="l"/>
              <a:pathLst>
                <a:path h="8534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482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de incidencias de 5 min → 1,5 min. Eliminación de trazabilidad vía WhatsApp.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0080" y="5029200"/>
            <a:ext cx="17007840" cy="1499616"/>
            <a:chOff x="0" y="0"/>
            <a:chExt cx="22677120" cy="19994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6771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26771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22433280" y="0"/>
                  </a:lnTo>
                  <a:cubicBezTo>
                    <a:pt x="22567900" y="0"/>
                    <a:pt x="22677120" y="109220"/>
                    <a:pt x="22677120" y="243840"/>
                  </a:cubicBezTo>
                  <a:lnTo>
                    <a:pt x="22677120" y="1755648"/>
                  </a:lnTo>
                  <a:cubicBezTo>
                    <a:pt x="22677120" y="1890268"/>
                    <a:pt x="22567900" y="1999488"/>
                    <a:pt x="22433280" y="1999488"/>
                  </a:cubicBezTo>
                  <a:lnTo>
                    <a:pt x="243840" y="1999488"/>
                  </a:lnTo>
                  <a:cubicBezTo>
                    <a:pt x="109220" y="1999488"/>
                    <a:pt x="0" y="1890268"/>
                    <a:pt x="0" y="1755648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5248656"/>
            <a:ext cx="804672" cy="804672"/>
            <a:chOff x="0" y="0"/>
            <a:chExt cx="1072896" cy="10728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5C54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60704" y="5394960"/>
            <a:ext cx="512064" cy="512064"/>
            <a:chOff x="0" y="0"/>
            <a:chExt cx="682752" cy="682752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011680" y="5084064"/>
            <a:ext cx="5120640" cy="731520"/>
            <a:chOff x="0" y="0"/>
            <a:chExt cx="682752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827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5C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Seguridad y cumplimiento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011680" y="5779008"/>
            <a:ext cx="15361920" cy="640080"/>
            <a:chOff x="0" y="0"/>
            <a:chExt cx="2048256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482561" cy="853440"/>
            </a:xfrm>
            <a:custGeom>
              <a:avLst/>
              <a:gdLst/>
              <a:ahLst/>
              <a:cxnLst/>
              <a:rect r="r" b="b" t="t" l="l"/>
              <a:pathLst>
                <a:path h="8534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0482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bcrypt, JWT, 2FA, bitácora inmutable, Ley 20.584. 80% de RNF cubiertos.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40080" y="6675120"/>
            <a:ext cx="17007840" cy="1499616"/>
            <a:chOff x="0" y="0"/>
            <a:chExt cx="22677120" cy="19994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6771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26771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22433280" y="0"/>
                  </a:lnTo>
                  <a:cubicBezTo>
                    <a:pt x="22567900" y="0"/>
                    <a:pt x="22677120" y="109220"/>
                    <a:pt x="22677120" y="243840"/>
                  </a:cubicBezTo>
                  <a:lnTo>
                    <a:pt x="22677120" y="1755648"/>
                  </a:lnTo>
                  <a:cubicBezTo>
                    <a:pt x="22677120" y="1890268"/>
                    <a:pt x="22567900" y="1999488"/>
                    <a:pt x="22433280" y="1999488"/>
                  </a:cubicBezTo>
                  <a:lnTo>
                    <a:pt x="243840" y="1999488"/>
                  </a:lnTo>
                  <a:cubicBezTo>
                    <a:pt x="109220" y="1999488"/>
                    <a:pt x="0" y="1890268"/>
                    <a:pt x="0" y="1755648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14400" y="6894576"/>
            <a:ext cx="804672" cy="804672"/>
            <a:chOff x="0" y="0"/>
            <a:chExt cx="1072896" cy="10728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9B59B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60704" y="7040880"/>
            <a:ext cx="512064" cy="512064"/>
            <a:chOff x="0" y="0"/>
            <a:chExt cx="682752" cy="682752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011680" y="6729984"/>
            <a:ext cx="5120640" cy="731520"/>
            <a:chOff x="0" y="0"/>
            <a:chExt cx="682752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827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9B59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sólida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011680" y="7424928"/>
            <a:ext cx="15361920" cy="640080"/>
            <a:chOff x="0" y="0"/>
            <a:chExt cx="2048256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482561" cy="853440"/>
            </a:xfrm>
            <a:custGeom>
              <a:avLst/>
              <a:gdLst/>
              <a:ahLst/>
              <a:cxnLst/>
              <a:rect r="r" b="b" t="t" l="l"/>
              <a:pathLst>
                <a:path h="8534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0482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FastAPI + MySQL + Docker. On-premise con escalabilidad horizontal preparada.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40080" y="8321040"/>
            <a:ext cx="17007840" cy="1499616"/>
            <a:chOff x="0" y="0"/>
            <a:chExt cx="22677120" cy="19994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6771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26771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22433280" y="0"/>
                  </a:lnTo>
                  <a:cubicBezTo>
                    <a:pt x="22567900" y="0"/>
                    <a:pt x="22677120" y="109220"/>
                    <a:pt x="22677120" y="243840"/>
                  </a:cubicBezTo>
                  <a:lnTo>
                    <a:pt x="22677120" y="1755648"/>
                  </a:lnTo>
                  <a:cubicBezTo>
                    <a:pt x="22677120" y="1890268"/>
                    <a:pt x="22567900" y="1999488"/>
                    <a:pt x="22433280" y="1999488"/>
                  </a:cubicBezTo>
                  <a:lnTo>
                    <a:pt x="243840" y="1999488"/>
                  </a:lnTo>
                  <a:cubicBezTo>
                    <a:pt x="109220" y="1999488"/>
                    <a:pt x="0" y="1890268"/>
                    <a:pt x="0" y="1755648"/>
                  </a:cubicBezTo>
                  <a:close/>
                </a:path>
              </a:pathLst>
            </a:custGeom>
            <a:solidFill>
              <a:srgbClr val="252B4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14400" y="8540496"/>
            <a:ext cx="804672" cy="804672"/>
            <a:chOff x="0" y="0"/>
            <a:chExt cx="1072896" cy="10728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60704" y="8686800"/>
            <a:ext cx="512064" cy="512064"/>
            <a:chOff x="0" y="0"/>
            <a:chExt cx="682752" cy="682752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011680" y="8375904"/>
            <a:ext cx="5120640" cy="731520"/>
            <a:chOff x="0" y="0"/>
            <a:chExt cx="6827520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827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con métricas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011680" y="9070848"/>
            <a:ext cx="15361920" cy="640080"/>
            <a:chOff x="0" y="0"/>
            <a:chExt cx="2048256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482561" cy="853440"/>
            </a:xfrm>
            <a:custGeom>
              <a:avLst/>
              <a:gdLst/>
              <a:ahLst/>
              <a:cxnLst/>
              <a:rect r="r" b="b" t="t" l="l"/>
              <a:pathLst>
                <a:path h="8534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0482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SLA 92% en alta prioridad. Dashboard en tiempo real para jefatura TI.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4400" y="9784080"/>
            <a:ext cx="16459200" cy="548640"/>
            <a:chOff x="0" y="0"/>
            <a:chExt cx="2194560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A94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Sistema de Gestión de Tickets — Centro Clínico Aconcagua | Grupo 11 | 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DAHMgvjyj30</dc:identifier>
  <dcterms:modified xsi:type="dcterms:W3CDTF">2011-08-01T06:04:30Z</dcterms:modified>
  <cp:revision>1</cp:revision>
  <dc:title>Incremento1_CentroClinicoAconcagua.pptx</dc:title>
</cp:coreProperties>
</file>